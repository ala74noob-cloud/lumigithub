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e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eg"/><Relationship Id="rId2" Type="http://schemas.openxmlformats.org/officeDocument/2006/relationships/image" Target="../media/image-3-2.jpe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eg"/><Relationship Id="rId2" Type="http://schemas.openxmlformats.org/officeDocument/2006/relationships/image" Target="../media/image-4-2.jpeg"/><Relationship Id="rId3" Type="http://schemas.openxmlformats.org/officeDocument/2006/relationships/image" Target="../media/image-4-3.jpeg"/><Relationship Id="rId4" Type="http://schemas.openxmlformats.org/officeDocument/2006/relationships/image" Target="../media/image-4-4.jpeg"/><Relationship Id="rId5" Type="http://schemas.openxmlformats.org/officeDocument/2006/relationships/image" Target="../media/image-4-5.jpeg"/><Relationship Id="rId6" Type="http://schemas.openxmlformats.org/officeDocument/2006/relationships/image" Target="../media/image-4-6.jpeg"/><Relationship Id="rId7" Type="http://schemas.openxmlformats.org/officeDocument/2006/relationships/image" Target="../media/image-4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e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e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B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00675" y="0"/>
            <a:ext cx="679132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009650" y="480417"/>
            <a:ext cx="1727560" cy="1143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90"/>
              </a:lnSpc>
              <a:buNone/>
            </a:pPr>
            <a:r>
              <a:rPr lang="en-US" sz="830" b="1" spc="23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GREENROOM.AGENCY</a:t>
            </a:r>
            <a:endParaRPr lang="en-US" sz="830" dirty="0"/>
          </a:p>
        </p:txBody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419100"/>
            <a:ext cx="285750" cy="236934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609600" y="2448520"/>
            <a:ext cx="3344949" cy="1333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30"/>
              </a:lnSpc>
              <a:buNone/>
            </a:pPr>
            <a:r>
              <a:rPr lang="en-US" sz="940" b="1" spc="280" kern="0" dirty="0">
                <a:solidFill>
                  <a:srgbClr val="D6EF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CHINA MARKET POTENTIAL REPORT</a:t>
            </a:r>
            <a:endParaRPr lang="en-US" sz="940" dirty="0"/>
          </a:p>
        </p:txBody>
      </p:sp>
      <p:sp>
        <p:nvSpPr>
          <p:cNvPr id="6" name="Text 2"/>
          <p:cNvSpPr/>
          <p:nvPr/>
        </p:nvSpPr>
        <p:spPr>
          <a:xfrm>
            <a:off x="609600" y="2715220"/>
            <a:ext cx="3131798" cy="685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4900"/>
              </a:lnSpc>
              <a:buNone/>
            </a:pPr>
            <a:r>
              <a:rPr lang="en-US" sz="4800" b="1" spc="-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Ninajirachi</a:t>
            </a:r>
            <a:endParaRPr lang="en-US" sz="4800" dirty="0"/>
          </a:p>
        </p:txBody>
      </p:sp>
      <p:sp>
        <p:nvSpPr>
          <p:cNvPr id="7" name="Text 3"/>
          <p:cNvSpPr/>
          <p:nvPr/>
        </p:nvSpPr>
        <p:spPr>
          <a:xfrm>
            <a:off x="609600" y="3517850"/>
            <a:ext cx="3178991" cy="2381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50"/>
              </a:lnSpc>
              <a:buNone/>
            </a:pPr>
            <a:r>
              <a:rPr lang="en-US" sz="1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China is already listening</a:t>
            </a:r>
            <a:endParaRPr lang="en-US" sz="1650" dirty="0"/>
          </a:p>
        </p:txBody>
      </p:sp>
      <p:sp>
        <p:nvSpPr>
          <p:cNvPr id="8" name="Text 4"/>
          <p:cNvSpPr/>
          <p:nvPr/>
        </p:nvSpPr>
        <p:spPr>
          <a:xfrm>
            <a:off x="609600" y="3980706"/>
            <a:ext cx="4115544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130" dirty="0">
                <a:solidFill>
                  <a:srgbClr val="B9B9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Streaming, short-video and long-video data from NetEase Cloud Music, Douyin and Bilibili.</a:t>
            </a:r>
            <a:endParaRPr lang="en-US" sz="1130" dirty="0"/>
          </a:p>
        </p:txBody>
      </p:sp>
      <p:sp>
        <p:nvSpPr>
          <p:cNvPr id="9" name="Text 5"/>
          <p:cNvSpPr/>
          <p:nvPr/>
        </p:nvSpPr>
        <p:spPr>
          <a:xfrm>
            <a:off x="609600" y="6324600"/>
            <a:ext cx="2428585" cy="1143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90"/>
              </a:lnSpc>
              <a:buNone/>
            </a:pPr>
            <a:r>
              <a:rPr lang="en-US" sz="830" b="1" spc="180" kern="0" dirty="0">
                <a:solidFill>
                  <a:srgbClr val="8F8F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RECORDED OCTOBER 2026</a:t>
            </a:r>
            <a:endParaRPr lang="en-US" sz="83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95300"/>
            <a:ext cx="2657520" cy="1333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30"/>
              </a:lnSpc>
              <a:buNone/>
            </a:pPr>
            <a:r>
              <a:rPr lang="en-US" sz="940" b="1" spc="280" kern="0" dirty="0">
                <a:solidFill>
                  <a:srgbClr val="E229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· NETEASE CLOUD MUSIC</a:t>
            </a:r>
            <a:endParaRPr lang="en-US" sz="940" dirty="0"/>
          </a:p>
        </p:txBody>
      </p:sp>
      <p:sp>
        <p:nvSpPr>
          <p:cNvPr id="3" name="Text 1"/>
          <p:cNvSpPr/>
          <p:nvPr/>
        </p:nvSpPr>
        <p:spPr>
          <a:xfrm>
            <a:off x="609600" y="714375"/>
            <a:ext cx="3733056" cy="7745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20"/>
              </a:lnSpc>
              <a:buNone/>
            </a:pPr>
            <a:r>
              <a:rPr lang="en-US" sz="2700" b="1" spc="-30" kern="0" dirty="0">
                <a:solidFill>
                  <a:srgbClr val="1B1B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Tracks on NetEase Cloud Music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609600" y="1634728"/>
            <a:ext cx="3922216" cy="11066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60"/>
              </a:lnSpc>
              <a:buNone/>
            </a:pPr>
            <a:r>
              <a:rPr lang="en-US" sz="1160" dirty="0">
                <a:solidFill>
                  <a:srgbClr val="6B6A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save (收藏) means a listener added the track to their own library. </a:t>
            </a:r>
            <a:pPr algn="l" indent="0" marL="0">
              <a:lnSpc>
                <a:spcPts val="1860"/>
              </a:lnSpc>
              <a:buNone/>
            </a:pPr>
            <a:r>
              <a:rPr lang="en-US" sz="1160" dirty="0">
                <a:solidFill>
                  <a:srgbClr val="1B1B1D"/>
                </a:solidFill>
                <a:highlight>
                  <a:srgbClr val="E0F264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Two tracks — Pathetic and Pure Luck — have passed 100,000 saves</a:t>
            </a:r>
            <a:pPr algn="l" indent="0" marL="0">
              <a:lnSpc>
                <a:spcPts val="1860"/>
              </a:lnSpc>
              <a:buNone/>
            </a:pPr>
            <a:r>
              <a:rPr lang="en-US" sz="1160" dirty="0">
                <a:solidFill>
                  <a:srgbClr val="6B6A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and nine tracks have passed 10,000. For an electronic music producer, that is an exceptionally strong result in China.</a:t>
            </a:r>
            <a:endParaRPr lang="en-US" sz="1160" dirty="0"/>
          </a:p>
        </p:txBody>
      </p:sp>
      <p:sp>
        <p:nvSpPr>
          <p:cNvPr id="5" name="Shape 3"/>
          <p:cNvSpPr/>
          <p:nvPr/>
        </p:nvSpPr>
        <p:spPr>
          <a:xfrm>
            <a:off x="609600" y="2996654"/>
            <a:ext cx="1943100" cy="975122"/>
          </a:xfrm>
          <a:prstGeom prst="roundRect">
            <a:avLst>
              <a:gd name="adj" fmla="val 8791"/>
            </a:avLst>
          </a:prstGeom>
          <a:solidFill>
            <a:srgbClr val="1A1B1E"/>
          </a:solidFill>
          <a:ln/>
        </p:spPr>
      </p:sp>
      <p:sp>
        <p:nvSpPr>
          <p:cNvPr id="6" name="Text 4"/>
          <p:cNvSpPr/>
          <p:nvPr/>
        </p:nvSpPr>
        <p:spPr>
          <a:xfrm>
            <a:off x="781050" y="3130004"/>
            <a:ext cx="1008459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2400" b="1" dirty="0">
                <a:solidFill>
                  <a:srgbClr val="D6EF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24,090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781050" y="3554760"/>
            <a:ext cx="877639" cy="1143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60"/>
              </a:lnSpc>
              <a:buNone/>
            </a:pPr>
            <a:r>
              <a:rPr lang="en-US" sz="830" b="1" spc="120" kern="0" dirty="0">
                <a:solidFill>
                  <a:srgbClr val="B4B4B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FOLLOWERS</a:t>
            </a:r>
            <a:endParaRPr lang="en-US" sz="830" dirty="0"/>
          </a:p>
        </p:txBody>
      </p:sp>
      <p:sp>
        <p:nvSpPr>
          <p:cNvPr id="8" name="Shape 6"/>
          <p:cNvSpPr/>
          <p:nvPr/>
        </p:nvSpPr>
        <p:spPr>
          <a:xfrm>
            <a:off x="2667000" y="2996654"/>
            <a:ext cx="1943100" cy="975122"/>
          </a:xfrm>
          <a:prstGeom prst="roundRect">
            <a:avLst>
              <a:gd name="adj" fmla="val 8791"/>
            </a:avLst>
          </a:prstGeom>
          <a:solidFill>
            <a:srgbClr val="1A1B1E"/>
          </a:solidFill>
          <a:ln/>
        </p:spPr>
      </p:sp>
      <p:sp>
        <p:nvSpPr>
          <p:cNvPr id="9" name="Text 7"/>
          <p:cNvSpPr/>
          <p:nvPr/>
        </p:nvSpPr>
        <p:spPr>
          <a:xfrm>
            <a:off x="2838450" y="3130004"/>
            <a:ext cx="1008459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2400" b="1" dirty="0">
                <a:solidFill>
                  <a:srgbClr val="D6EF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18,089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2838450" y="3554760"/>
            <a:ext cx="1275011" cy="26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60"/>
              </a:lnSpc>
              <a:buNone/>
            </a:pPr>
            <a:r>
              <a:rPr lang="en-US" sz="830" b="1" spc="120" kern="0" dirty="0">
                <a:solidFill>
                  <a:srgbClr val="B4B4B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SAVES · I LOVE MY COMPUTER</a:t>
            </a:r>
            <a:endParaRPr lang="en-US" sz="830" dirty="0"/>
          </a:p>
        </p:txBody>
      </p:sp>
      <p:sp>
        <p:nvSpPr>
          <p:cNvPr id="11" name="Text 9"/>
          <p:cNvSpPr/>
          <p:nvPr/>
        </p:nvSpPr>
        <p:spPr>
          <a:xfrm>
            <a:off x="609600" y="4133701"/>
            <a:ext cx="402133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940" dirty="0">
                <a:solidFill>
                  <a:srgbClr val="6B6A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Album released 8 Aug 2025 · 12 tracks · 919 comments · 222 tracks on her NetEase artist page.</a:t>
            </a:r>
            <a:endParaRPr lang="en-US" sz="940" dirty="0"/>
          </a:p>
        </p:txBody>
      </p:sp>
      <p:sp>
        <p:nvSpPr>
          <p:cNvPr id="12" name="Text 10"/>
          <p:cNvSpPr/>
          <p:nvPr/>
        </p:nvSpPr>
        <p:spPr>
          <a:xfrm>
            <a:off x="5670054" y="576263"/>
            <a:ext cx="528489" cy="1143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90"/>
              </a:lnSpc>
              <a:buNone/>
            </a:pPr>
            <a:r>
              <a:rPr lang="en-US" sz="830" b="1" spc="170" kern="0" dirty="0">
                <a:solidFill>
                  <a:srgbClr val="6B6A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SAVES</a:t>
            </a:r>
            <a:endParaRPr lang="en-US" sz="830" dirty="0"/>
          </a:p>
        </p:txBody>
      </p:sp>
      <p:sp>
        <p:nvSpPr>
          <p:cNvPr id="13" name="Shape 11"/>
          <p:cNvSpPr/>
          <p:nvPr/>
        </p:nvSpPr>
        <p:spPr>
          <a:xfrm>
            <a:off x="5029200" y="533400"/>
            <a:ext cx="545604" cy="200025"/>
          </a:xfrm>
          <a:prstGeom prst="roundRect">
            <a:avLst>
              <a:gd name="adj" fmla="val 19048"/>
            </a:avLst>
          </a:prstGeom>
          <a:solidFill>
            <a:srgbClr val="E0F264"/>
          </a:solidFill>
          <a:ln/>
        </p:spPr>
      </p:sp>
      <p:sp>
        <p:nvSpPr>
          <p:cNvPr id="14" name="Text 12"/>
          <p:cNvSpPr/>
          <p:nvPr/>
        </p:nvSpPr>
        <p:spPr>
          <a:xfrm>
            <a:off x="5105400" y="561975"/>
            <a:ext cx="469404" cy="1428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80" b="1" spc="40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100K+</a:t>
            </a:r>
            <a:endParaRPr lang="en-US" sz="980" dirty="0"/>
          </a:p>
        </p:txBody>
      </p:sp>
      <p:sp>
        <p:nvSpPr>
          <p:cNvPr id="15" name="Shape 13"/>
          <p:cNvSpPr/>
          <p:nvPr/>
        </p:nvSpPr>
        <p:spPr>
          <a:xfrm>
            <a:off x="5029200" y="1379190"/>
            <a:ext cx="6553200" cy="0"/>
          </a:xfrm>
          <a:prstGeom prst="line">
            <a:avLst/>
          </a:prstGeom>
          <a:noFill/>
          <a:ln w="9525">
            <a:solidFill>
              <a:srgbClr val="DCDAD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029200" y="999083"/>
            <a:ext cx="235148" cy="1619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1130" b="1" dirty="0">
                <a:solidFill>
                  <a:srgbClr val="E229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130" dirty="0"/>
          </a:p>
        </p:txBody>
      </p:sp>
      <p:sp>
        <p:nvSpPr>
          <p:cNvPr id="17" name="Text 15"/>
          <p:cNvSpPr/>
          <p:nvPr/>
        </p:nvSpPr>
        <p:spPr>
          <a:xfrm>
            <a:off x="5467350" y="895350"/>
            <a:ext cx="780306" cy="2000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710"/>
              </a:lnSpc>
              <a:buNone/>
            </a:pPr>
            <a:r>
              <a:rPr lang="en-US" sz="1430" b="1" dirty="0">
                <a:solidFill>
                  <a:srgbClr val="1B1B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Pathetic</a:t>
            </a:r>
            <a:endParaRPr lang="en-US" sz="1430" dirty="0"/>
          </a:p>
        </p:txBody>
      </p:sp>
      <p:sp>
        <p:nvSpPr>
          <p:cNvPr id="18" name="Text 16"/>
          <p:cNvSpPr/>
          <p:nvPr/>
        </p:nvSpPr>
        <p:spPr>
          <a:xfrm>
            <a:off x="5467350" y="1131540"/>
            <a:ext cx="965597" cy="1333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6B6A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Ninajirachi, NaaH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9486900" y="970508"/>
            <a:ext cx="899517" cy="219075"/>
          </a:xfrm>
          <a:prstGeom prst="roundRect">
            <a:avLst>
              <a:gd name="adj" fmla="val 17391"/>
            </a:avLst>
          </a:prstGeom>
          <a:solidFill>
            <a:srgbClr val="E0F264"/>
          </a:solidFill>
          <a:ln/>
        </p:spPr>
      </p:sp>
      <p:sp>
        <p:nvSpPr>
          <p:cNvPr id="20" name="Text 18"/>
          <p:cNvSpPr/>
          <p:nvPr/>
        </p:nvSpPr>
        <p:spPr>
          <a:xfrm>
            <a:off x="9563100" y="1008608"/>
            <a:ext cx="823317" cy="1428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8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100K+ saves</a:t>
            </a:r>
            <a:endParaRPr lang="en-US" sz="980" dirty="0"/>
          </a:p>
        </p:txBody>
      </p:sp>
      <p:sp>
        <p:nvSpPr>
          <p:cNvPr id="21" name="Text 19"/>
          <p:cNvSpPr/>
          <p:nvPr/>
        </p:nvSpPr>
        <p:spPr>
          <a:xfrm>
            <a:off x="10689729" y="1013371"/>
            <a:ext cx="892671" cy="1333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6B6A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999+ comments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029200" y="1967805"/>
            <a:ext cx="6553200" cy="0"/>
          </a:xfrm>
          <a:prstGeom prst="line">
            <a:avLst/>
          </a:prstGeom>
          <a:noFill/>
          <a:ln w="9525">
            <a:solidFill>
              <a:srgbClr val="DCDAD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029200" y="1587698"/>
            <a:ext cx="235148" cy="1619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1130" b="1" dirty="0">
                <a:solidFill>
                  <a:srgbClr val="E229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130" dirty="0"/>
          </a:p>
        </p:txBody>
      </p:sp>
      <p:sp>
        <p:nvSpPr>
          <p:cNvPr id="24" name="Text 22"/>
          <p:cNvSpPr/>
          <p:nvPr/>
        </p:nvSpPr>
        <p:spPr>
          <a:xfrm>
            <a:off x="5467350" y="1483965"/>
            <a:ext cx="951309" cy="2000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710"/>
              </a:lnSpc>
              <a:buNone/>
            </a:pPr>
            <a:r>
              <a:rPr lang="en-US" sz="1430" b="1" dirty="0">
                <a:solidFill>
                  <a:srgbClr val="1B1B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Pure Luck</a:t>
            </a:r>
            <a:endParaRPr lang="en-US" sz="1430" dirty="0"/>
          </a:p>
        </p:txBody>
      </p:sp>
      <p:sp>
        <p:nvSpPr>
          <p:cNvPr id="25" name="Text 23"/>
          <p:cNvSpPr/>
          <p:nvPr/>
        </p:nvSpPr>
        <p:spPr>
          <a:xfrm>
            <a:off x="5467350" y="1720155"/>
            <a:ext cx="1270546" cy="1333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6B6A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Ninajirachi, Freya Staer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9486900" y="1559123"/>
            <a:ext cx="899517" cy="219075"/>
          </a:xfrm>
          <a:prstGeom prst="roundRect">
            <a:avLst>
              <a:gd name="adj" fmla="val 17391"/>
            </a:avLst>
          </a:prstGeom>
          <a:solidFill>
            <a:srgbClr val="E0F264"/>
          </a:solidFill>
          <a:ln/>
        </p:spPr>
      </p:sp>
      <p:sp>
        <p:nvSpPr>
          <p:cNvPr id="27" name="Text 25"/>
          <p:cNvSpPr/>
          <p:nvPr/>
        </p:nvSpPr>
        <p:spPr>
          <a:xfrm>
            <a:off x="9563100" y="1597223"/>
            <a:ext cx="823317" cy="1428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8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100K+ saves</a:t>
            </a:r>
            <a:endParaRPr lang="en-US" sz="980" dirty="0"/>
          </a:p>
        </p:txBody>
      </p:sp>
      <p:sp>
        <p:nvSpPr>
          <p:cNvPr id="28" name="Text 26"/>
          <p:cNvSpPr/>
          <p:nvPr/>
        </p:nvSpPr>
        <p:spPr>
          <a:xfrm>
            <a:off x="10689729" y="1601986"/>
            <a:ext cx="892671" cy="1333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6B6A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999+ comments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5596235" y="2144018"/>
            <a:ext cx="528489" cy="1143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90"/>
              </a:lnSpc>
              <a:buNone/>
            </a:pPr>
            <a:r>
              <a:rPr lang="en-US" sz="830" b="1" spc="170" kern="0" dirty="0">
                <a:solidFill>
                  <a:srgbClr val="6B6A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SAVES</a:t>
            </a:r>
            <a:endParaRPr lang="en-US" sz="830" dirty="0"/>
          </a:p>
        </p:txBody>
      </p:sp>
      <p:sp>
        <p:nvSpPr>
          <p:cNvPr id="30" name="Shape 28"/>
          <p:cNvSpPr/>
          <p:nvPr/>
        </p:nvSpPr>
        <p:spPr>
          <a:xfrm>
            <a:off x="5029200" y="2101155"/>
            <a:ext cx="471785" cy="200025"/>
          </a:xfrm>
          <a:prstGeom prst="roundRect">
            <a:avLst>
              <a:gd name="adj" fmla="val 19048"/>
            </a:avLst>
          </a:prstGeom>
          <a:solidFill>
            <a:srgbClr val="1A1B1E"/>
          </a:solidFill>
          <a:ln/>
        </p:spPr>
      </p:sp>
      <p:sp>
        <p:nvSpPr>
          <p:cNvPr id="31" name="Text 29"/>
          <p:cNvSpPr/>
          <p:nvPr/>
        </p:nvSpPr>
        <p:spPr>
          <a:xfrm>
            <a:off x="5105400" y="2129730"/>
            <a:ext cx="395585" cy="1428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80" b="1" spc="40" kern="0" dirty="0">
                <a:solidFill>
                  <a:srgbClr val="D6EF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10K+</a:t>
            </a:r>
            <a:endParaRPr lang="en-US" sz="980" dirty="0"/>
          </a:p>
        </p:txBody>
      </p:sp>
      <p:sp>
        <p:nvSpPr>
          <p:cNvPr id="32" name="Shape 30"/>
          <p:cNvSpPr/>
          <p:nvPr/>
        </p:nvSpPr>
        <p:spPr>
          <a:xfrm>
            <a:off x="5029200" y="2830711"/>
            <a:ext cx="6553200" cy="0"/>
          </a:xfrm>
          <a:prstGeom prst="line">
            <a:avLst/>
          </a:prstGeom>
          <a:noFill/>
          <a:ln w="9525">
            <a:solidFill>
              <a:srgbClr val="DCDAD1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029200" y="2508796"/>
            <a:ext cx="235148" cy="1619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1130" b="1" dirty="0">
                <a:solidFill>
                  <a:srgbClr val="E229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130" dirty="0"/>
          </a:p>
        </p:txBody>
      </p:sp>
      <p:sp>
        <p:nvSpPr>
          <p:cNvPr id="34" name="Text 32"/>
          <p:cNvSpPr/>
          <p:nvPr/>
        </p:nvSpPr>
        <p:spPr>
          <a:xfrm>
            <a:off x="5467350" y="2425005"/>
            <a:ext cx="800844" cy="1619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160" b="1" dirty="0">
                <a:solidFill>
                  <a:srgbClr val="1B1B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WannaCry</a:t>
            </a:r>
            <a:endParaRPr lang="en-US" sz="1160" dirty="0"/>
          </a:p>
        </p:txBody>
      </p:sp>
      <p:sp>
        <p:nvSpPr>
          <p:cNvPr id="35" name="Text 33"/>
          <p:cNvSpPr/>
          <p:nvPr/>
        </p:nvSpPr>
        <p:spPr>
          <a:xfrm>
            <a:off x="5467350" y="2621161"/>
            <a:ext cx="1499295" cy="1333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6B6A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Ninajirachi, Porter Robinson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9486900" y="2480221"/>
            <a:ext cx="830610" cy="219075"/>
          </a:xfrm>
          <a:prstGeom prst="roundRect">
            <a:avLst>
              <a:gd name="adj" fmla="val 17391"/>
            </a:avLst>
          </a:prstGeom>
          <a:solidFill>
            <a:srgbClr val="1A1B1E"/>
          </a:solidFill>
          <a:ln/>
        </p:spPr>
      </p:sp>
      <p:sp>
        <p:nvSpPr>
          <p:cNvPr id="37" name="Text 35"/>
          <p:cNvSpPr/>
          <p:nvPr/>
        </p:nvSpPr>
        <p:spPr>
          <a:xfrm>
            <a:off x="9563100" y="2518321"/>
            <a:ext cx="754410" cy="1428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80" b="1" dirty="0">
                <a:solidFill>
                  <a:srgbClr val="D6EF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10K+ saves</a:t>
            </a:r>
            <a:endParaRPr lang="en-US" sz="980" dirty="0"/>
          </a:p>
        </p:txBody>
      </p:sp>
      <p:sp>
        <p:nvSpPr>
          <p:cNvPr id="38" name="Text 36"/>
          <p:cNvSpPr/>
          <p:nvPr/>
        </p:nvSpPr>
        <p:spPr>
          <a:xfrm>
            <a:off x="10689729" y="2523083"/>
            <a:ext cx="892671" cy="1333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6B6A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999+ comments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029200" y="3303091"/>
            <a:ext cx="6553200" cy="0"/>
          </a:xfrm>
          <a:prstGeom prst="line">
            <a:avLst/>
          </a:prstGeom>
          <a:noFill/>
          <a:ln w="9525">
            <a:solidFill>
              <a:srgbClr val="DCDAD1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029200" y="2981176"/>
            <a:ext cx="235148" cy="1619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1130" b="1" dirty="0">
                <a:solidFill>
                  <a:srgbClr val="E229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130" dirty="0"/>
          </a:p>
        </p:txBody>
      </p:sp>
      <p:sp>
        <p:nvSpPr>
          <p:cNvPr id="41" name="Text 39"/>
          <p:cNvSpPr/>
          <p:nvPr/>
        </p:nvSpPr>
        <p:spPr>
          <a:xfrm>
            <a:off x="5467350" y="2897386"/>
            <a:ext cx="371475" cy="1619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160" b="1" dirty="0">
                <a:solidFill>
                  <a:srgbClr val="1B1B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BiBi</a:t>
            </a:r>
            <a:endParaRPr lang="en-US" sz="1160" dirty="0"/>
          </a:p>
        </p:txBody>
      </p:sp>
      <p:sp>
        <p:nvSpPr>
          <p:cNvPr id="42" name="Text 40"/>
          <p:cNvSpPr/>
          <p:nvPr/>
        </p:nvSpPr>
        <p:spPr>
          <a:xfrm>
            <a:off x="5467350" y="3093541"/>
            <a:ext cx="1281261" cy="1333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6B6A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Billionhappy, Ninajirachi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9486900" y="2952601"/>
            <a:ext cx="830610" cy="219075"/>
          </a:xfrm>
          <a:prstGeom prst="roundRect">
            <a:avLst>
              <a:gd name="adj" fmla="val 17391"/>
            </a:avLst>
          </a:prstGeom>
          <a:solidFill>
            <a:srgbClr val="1A1B1E"/>
          </a:solidFill>
          <a:ln/>
        </p:spPr>
      </p:sp>
      <p:sp>
        <p:nvSpPr>
          <p:cNvPr id="44" name="Text 42"/>
          <p:cNvSpPr/>
          <p:nvPr/>
        </p:nvSpPr>
        <p:spPr>
          <a:xfrm>
            <a:off x="9563100" y="2990701"/>
            <a:ext cx="754410" cy="1428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80" b="1" dirty="0">
                <a:solidFill>
                  <a:srgbClr val="D6EF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10K+ saves</a:t>
            </a:r>
            <a:endParaRPr lang="en-US" sz="980" dirty="0"/>
          </a:p>
        </p:txBody>
      </p:sp>
      <p:sp>
        <p:nvSpPr>
          <p:cNvPr id="45" name="Text 43"/>
          <p:cNvSpPr/>
          <p:nvPr/>
        </p:nvSpPr>
        <p:spPr>
          <a:xfrm>
            <a:off x="10689729" y="2995464"/>
            <a:ext cx="892671" cy="1333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6B6A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999+ comments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5029200" y="3775472"/>
            <a:ext cx="6553200" cy="0"/>
          </a:xfrm>
          <a:prstGeom prst="line">
            <a:avLst/>
          </a:prstGeom>
          <a:noFill/>
          <a:ln w="9525">
            <a:solidFill>
              <a:srgbClr val="DCDAD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029200" y="3453557"/>
            <a:ext cx="235148" cy="1619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1130" b="1" dirty="0">
                <a:solidFill>
                  <a:srgbClr val="E229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130" dirty="0"/>
          </a:p>
        </p:txBody>
      </p:sp>
      <p:sp>
        <p:nvSpPr>
          <p:cNvPr id="48" name="Text 46"/>
          <p:cNvSpPr/>
          <p:nvPr/>
        </p:nvSpPr>
        <p:spPr>
          <a:xfrm>
            <a:off x="5467350" y="3369766"/>
            <a:ext cx="642193" cy="1619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160" b="1" dirty="0">
                <a:solidFill>
                  <a:srgbClr val="1B1B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CSIRAC</a:t>
            </a:r>
            <a:endParaRPr lang="en-US" sz="1160" dirty="0"/>
          </a:p>
        </p:txBody>
      </p:sp>
      <p:sp>
        <p:nvSpPr>
          <p:cNvPr id="49" name="Text 47"/>
          <p:cNvSpPr/>
          <p:nvPr/>
        </p:nvSpPr>
        <p:spPr>
          <a:xfrm>
            <a:off x="5467350" y="3565922"/>
            <a:ext cx="609898" cy="1333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6B6A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Ninajirachi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9486900" y="3424982"/>
            <a:ext cx="830610" cy="219075"/>
          </a:xfrm>
          <a:prstGeom prst="roundRect">
            <a:avLst>
              <a:gd name="adj" fmla="val 17391"/>
            </a:avLst>
          </a:prstGeom>
          <a:solidFill>
            <a:srgbClr val="1A1B1E"/>
          </a:solidFill>
          <a:ln/>
        </p:spPr>
      </p:sp>
      <p:sp>
        <p:nvSpPr>
          <p:cNvPr id="51" name="Text 49"/>
          <p:cNvSpPr/>
          <p:nvPr/>
        </p:nvSpPr>
        <p:spPr>
          <a:xfrm>
            <a:off x="9563100" y="3463082"/>
            <a:ext cx="754410" cy="1428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80" b="1" dirty="0">
                <a:solidFill>
                  <a:srgbClr val="D6EF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10K+ saves</a:t>
            </a:r>
            <a:endParaRPr lang="en-US" sz="980" dirty="0"/>
          </a:p>
        </p:txBody>
      </p:sp>
      <p:sp>
        <p:nvSpPr>
          <p:cNvPr id="52" name="Text 50"/>
          <p:cNvSpPr/>
          <p:nvPr/>
        </p:nvSpPr>
        <p:spPr>
          <a:xfrm>
            <a:off x="10756553" y="3467844"/>
            <a:ext cx="825847" cy="1333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6B6A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656 comments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5029200" y="4247852"/>
            <a:ext cx="6553200" cy="0"/>
          </a:xfrm>
          <a:prstGeom prst="line">
            <a:avLst/>
          </a:prstGeom>
          <a:noFill/>
          <a:ln w="9525">
            <a:solidFill>
              <a:srgbClr val="DCDAD1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029200" y="3925937"/>
            <a:ext cx="235148" cy="1619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1130" b="1" dirty="0">
                <a:solidFill>
                  <a:srgbClr val="E229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130" dirty="0"/>
          </a:p>
        </p:txBody>
      </p:sp>
      <p:sp>
        <p:nvSpPr>
          <p:cNvPr id="55" name="Text 53"/>
          <p:cNvSpPr/>
          <p:nvPr/>
        </p:nvSpPr>
        <p:spPr>
          <a:xfrm>
            <a:off x="5467350" y="3842147"/>
            <a:ext cx="869007" cy="1619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160" b="1" dirty="0">
                <a:solidFill>
                  <a:srgbClr val="1B1B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iPod Touch</a:t>
            </a:r>
            <a:endParaRPr lang="en-US" sz="1160" dirty="0"/>
          </a:p>
        </p:txBody>
      </p:sp>
      <p:sp>
        <p:nvSpPr>
          <p:cNvPr id="56" name="Text 54"/>
          <p:cNvSpPr/>
          <p:nvPr/>
        </p:nvSpPr>
        <p:spPr>
          <a:xfrm>
            <a:off x="5467350" y="4038302"/>
            <a:ext cx="609898" cy="1333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6B6A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Ninajirachi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9486900" y="3897362"/>
            <a:ext cx="830610" cy="219075"/>
          </a:xfrm>
          <a:prstGeom prst="roundRect">
            <a:avLst>
              <a:gd name="adj" fmla="val 17391"/>
            </a:avLst>
          </a:prstGeom>
          <a:solidFill>
            <a:srgbClr val="1A1B1E"/>
          </a:solidFill>
          <a:ln/>
        </p:spPr>
      </p:sp>
      <p:sp>
        <p:nvSpPr>
          <p:cNvPr id="58" name="Text 56"/>
          <p:cNvSpPr/>
          <p:nvPr/>
        </p:nvSpPr>
        <p:spPr>
          <a:xfrm>
            <a:off x="9563100" y="3935462"/>
            <a:ext cx="754410" cy="1428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80" b="1" dirty="0">
                <a:solidFill>
                  <a:srgbClr val="D6EF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10K+ saves</a:t>
            </a:r>
            <a:endParaRPr lang="en-US" sz="980" dirty="0"/>
          </a:p>
        </p:txBody>
      </p:sp>
      <p:sp>
        <p:nvSpPr>
          <p:cNvPr id="59" name="Text 57"/>
          <p:cNvSpPr/>
          <p:nvPr/>
        </p:nvSpPr>
        <p:spPr>
          <a:xfrm>
            <a:off x="10756553" y="3940225"/>
            <a:ext cx="825847" cy="1333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6B6A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590 comments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5029200" y="4720233"/>
            <a:ext cx="6553200" cy="0"/>
          </a:xfrm>
          <a:prstGeom prst="line">
            <a:avLst/>
          </a:prstGeom>
          <a:noFill/>
          <a:ln w="9525">
            <a:solidFill>
              <a:srgbClr val="DCDAD1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5029200" y="4398318"/>
            <a:ext cx="235148" cy="1619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1130" b="1" dirty="0">
                <a:solidFill>
                  <a:srgbClr val="E229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130" dirty="0"/>
          </a:p>
        </p:txBody>
      </p:sp>
      <p:sp>
        <p:nvSpPr>
          <p:cNvPr id="62" name="Text 60"/>
          <p:cNvSpPr/>
          <p:nvPr/>
        </p:nvSpPr>
        <p:spPr>
          <a:xfrm>
            <a:off x="5467350" y="4314527"/>
            <a:ext cx="568672" cy="1619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160" b="1" dirty="0">
                <a:solidFill>
                  <a:srgbClr val="1B1B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Sisters</a:t>
            </a:r>
            <a:endParaRPr lang="en-US" sz="1160" dirty="0"/>
          </a:p>
        </p:txBody>
      </p:sp>
      <p:sp>
        <p:nvSpPr>
          <p:cNvPr id="63" name="Text 61"/>
          <p:cNvSpPr/>
          <p:nvPr/>
        </p:nvSpPr>
        <p:spPr>
          <a:xfrm>
            <a:off x="5467350" y="4510683"/>
            <a:ext cx="1391096" cy="1333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6B6A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Frost Children, Ninajirachi</a:t>
            </a:r>
            <a:endParaRPr lang="en-US" sz="900" dirty="0"/>
          </a:p>
        </p:txBody>
      </p:sp>
      <p:sp>
        <p:nvSpPr>
          <p:cNvPr id="64" name="Shape 62"/>
          <p:cNvSpPr/>
          <p:nvPr/>
        </p:nvSpPr>
        <p:spPr>
          <a:xfrm>
            <a:off x="9486900" y="4369743"/>
            <a:ext cx="830610" cy="219075"/>
          </a:xfrm>
          <a:prstGeom prst="roundRect">
            <a:avLst>
              <a:gd name="adj" fmla="val 17391"/>
            </a:avLst>
          </a:prstGeom>
          <a:solidFill>
            <a:srgbClr val="1A1B1E"/>
          </a:solidFill>
          <a:ln/>
        </p:spPr>
      </p:sp>
      <p:sp>
        <p:nvSpPr>
          <p:cNvPr id="65" name="Text 63"/>
          <p:cNvSpPr/>
          <p:nvPr/>
        </p:nvSpPr>
        <p:spPr>
          <a:xfrm>
            <a:off x="9563100" y="4407843"/>
            <a:ext cx="754410" cy="1428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80" b="1" dirty="0">
                <a:solidFill>
                  <a:srgbClr val="D6EF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10K+ saves</a:t>
            </a:r>
            <a:endParaRPr lang="en-US" sz="980" dirty="0"/>
          </a:p>
        </p:txBody>
      </p:sp>
      <p:sp>
        <p:nvSpPr>
          <p:cNvPr id="66" name="Text 64"/>
          <p:cNvSpPr/>
          <p:nvPr/>
        </p:nvSpPr>
        <p:spPr>
          <a:xfrm>
            <a:off x="10756553" y="4412605"/>
            <a:ext cx="825847" cy="1333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6B6A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584 comments</a:t>
            </a:r>
            <a:endParaRPr lang="en-US" sz="900" dirty="0"/>
          </a:p>
        </p:txBody>
      </p:sp>
      <p:sp>
        <p:nvSpPr>
          <p:cNvPr id="67" name="Shape 65"/>
          <p:cNvSpPr/>
          <p:nvPr/>
        </p:nvSpPr>
        <p:spPr>
          <a:xfrm>
            <a:off x="5029200" y="5192613"/>
            <a:ext cx="6553200" cy="0"/>
          </a:xfrm>
          <a:prstGeom prst="line">
            <a:avLst/>
          </a:prstGeom>
          <a:noFill/>
          <a:ln w="9525">
            <a:solidFill>
              <a:srgbClr val="DCDAD1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5029200" y="4870698"/>
            <a:ext cx="235148" cy="1619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1130" b="1" dirty="0">
                <a:solidFill>
                  <a:srgbClr val="E229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130" dirty="0"/>
          </a:p>
        </p:txBody>
      </p:sp>
      <p:sp>
        <p:nvSpPr>
          <p:cNvPr id="69" name="Text 67"/>
          <p:cNvSpPr/>
          <p:nvPr/>
        </p:nvSpPr>
        <p:spPr>
          <a:xfrm>
            <a:off x="5467350" y="4786908"/>
            <a:ext cx="1323082" cy="1619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160" b="1" dirty="0">
                <a:solidFill>
                  <a:srgbClr val="1B1B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F*** My Computer</a:t>
            </a:r>
            <a:endParaRPr lang="en-US" sz="1160" dirty="0"/>
          </a:p>
        </p:txBody>
      </p:sp>
      <p:sp>
        <p:nvSpPr>
          <p:cNvPr id="70" name="Text 68"/>
          <p:cNvSpPr/>
          <p:nvPr/>
        </p:nvSpPr>
        <p:spPr>
          <a:xfrm>
            <a:off x="5467350" y="4983063"/>
            <a:ext cx="609898" cy="1333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6B6A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Ninajirachi</a:t>
            </a:r>
            <a:endParaRPr lang="en-US" sz="900" dirty="0"/>
          </a:p>
        </p:txBody>
      </p:sp>
      <p:sp>
        <p:nvSpPr>
          <p:cNvPr id="71" name="Shape 69"/>
          <p:cNvSpPr/>
          <p:nvPr/>
        </p:nvSpPr>
        <p:spPr>
          <a:xfrm>
            <a:off x="9486900" y="4842123"/>
            <a:ext cx="830610" cy="219075"/>
          </a:xfrm>
          <a:prstGeom prst="roundRect">
            <a:avLst>
              <a:gd name="adj" fmla="val 17391"/>
            </a:avLst>
          </a:prstGeom>
          <a:solidFill>
            <a:srgbClr val="1A1B1E"/>
          </a:solidFill>
          <a:ln/>
        </p:spPr>
      </p:sp>
      <p:sp>
        <p:nvSpPr>
          <p:cNvPr id="72" name="Text 70"/>
          <p:cNvSpPr/>
          <p:nvPr/>
        </p:nvSpPr>
        <p:spPr>
          <a:xfrm>
            <a:off x="9563100" y="4880223"/>
            <a:ext cx="754410" cy="1428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80" b="1" dirty="0">
                <a:solidFill>
                  <a:srgbClr val="D6EF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10K+ saves</a:t>
            </a:r>
            <a:endParaRPr lang="en-US" sz="980" dirty="0"/>
          </a:p>
        </p:txBody>
      </p:sp>
      <p:sp>
        <p:nvSpPr>
          <p:cNvPr id="73" name="Text 71"/>
          <p:cNvSpPr/>
          <p:nvPr/>
        </p:nvSpPr>
        <p:spPr>
          <a:xfrm>
            <a:off x="10756553" y="4884986"/>
            <a:ext cx="825847" cy="1333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6B6A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457 comments</a:t>
            </a:r>
            <a:endParaRPr lang="en-US" sz="900" dirty="0"/>
          </a:p>
        </p:txBody>
      </p:sp>
      <p:sp>
        <p:nvSpPr>
          <p:cNvPr id="74" name="Shape 72"/>
          <p:cNvSpPr/>
          <p:nvPr/>
        </p:nvSpPr>
        <p:spPr>
          <a:xfrm>
            <a:off x="5029200" y="5664994"/>
            <a:ext cx="6553200" cy="0"/>
          </a:xfrm>
          <a:prstGeom prst="line">
            <a:avLst/>
          </a:prstGeom>
          <a:noFill/>
          <a:ln w="9525">
            <a:solidFill>
              <a:srgbClr val="DCDAD1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5029200" y="5343079"/>
            <a:ext cx="235148" cy="1619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1130" b="1" dirty="0">
                <a:solidFill>
                  <a:srgbClr val="E229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130" dirty="0"/>
          </a:p>
        </p:txBody>
      </p:sp>
      <p:sp>
        <p:nvSpPr>
          <p:cNvPr id="76" name="Text 74"/>
          <p:cNvSpPr/>
          <p:nvPr/>
        </p:nvSpPr>
        <p:spPr>
          <a:xfrm>
            <a:off x="5467350" y="5259288"/>
            <a:ext cx="2494999" cy="1619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160" b="1" dirty="0">
                <a:solidFill>
                  <a:srgbClr val="1B1B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Could U (Ninajirachi VIP Mix)</a:t>
            </a:r>
            <a:endParaRPr lang="en-US" sz="1160" dirty="0"/>
          </a:p>
        </p:txBody>
      </p:sp>
      <p:sp>
        <p:nvSpPr>
          <p:cNvPr id="77" name="Text 75"/>
          <p:cNvSpPr/>
          <p:nvPr/>
        </p:nvSpPr>
        <p:spPr>
          <a:xfrm>
            <a:off x="5467350" y="5455444"/>
            <a:ext cx="990898" cy="1333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6B6A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Ninajirachi, BRUX</a:t>
            </a:r>
            <a:endParaRPr lang="en-US" sz="900" dirty="0"/>
          </a:p>
        </p:txBody>
      </p:sp>
      <p:sp>
        <p:nvSpPr>
          <p:cNvPr id="78" name="Shape 76"/>
          <p:cNvSpPr/>
          <p:nvPr/>
        </p:nvSpPr>
        <p:spPr>
          <a:xfrm>
            <a:off x="9486900" y="5314504"/>
            <a:ext cx="830610" cy="219075"/>
          </a:xfrm>
          <a:prstGeom prst="roundRect">
            <a:avLst>
              <a:gd name="adj" fmla="val 17391"/>
            </a:avLst>
          </a:prstGeom>
          <a:solidFill>
            <a:srgbClr val="1A1B1E"/>
          </a:solidFill>
          <a:ln/>
        </p:spPr>
      </p:sp>
      <p:sp>
        <p:nvSpPr>
          <p:cNvPr id="79" name="Text 77"/>
          <p:cNvSpPr/>
          <p:nvPr/>
        </p:nvSpPr>
        <p:spPr>
          <a:xfrm>
            <a:off x="9563100" y="5352604"/>
            <a:ext cx="754410" cy="1428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80" b="1" dirty="0">
                <a:solidFill>
                  <a:srgbClr val="D6EF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10K+ saves</a:t>
            </a:r>
            <a:endParaRPr lang="en-US" sz="980" dirty="0"/>
          </a:p>
        </p:txBody>
      </p:sp>
      <p:sp>
        <p:nvSpPr>
          <p:cNvPr id="80" name="Text 78"/>
          <p:cNvSpPr/>
          <p:nvPr/>
        </p:nvSpPr>
        <p:spPr>
          <a:xfrm>
            <a:off x="10756553" y="5357366"/>
            <a:ext cx="825847" cy="1333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6B6A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285 comments</a:t>
            </a:r>
            <a:endParaRPr lang="en-US" sz="900" dirty="0"/>
          </a:p>
        </p:txBody>
      </p:sp>
      <p:sp>
        <p:nvSpPr>
          <p:cNvPr id="81" name="Text 79"/>
          <p:cNvSpPr/>
          <p:nvPr/>
        </p:nvSpPr>
        <p:spPr>
          <a:xfrm>
            <a:off x="5029200" y="5741194"/>
            <a:ext cx="4922647" cy="1143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90"/>
              </a:lnSpc>
              <a:buNone/>
            </a:pPr>
            <a:r>
              <a:rPr lang="en-US" sz="830" dirty="0">
                <a:solidFill>
                  <a:srgbClr val="9B9A9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NetEase shows saves in bands (10K+, 100K+). Within a band, tracks are ordered by comment count.</a:t>
            </a:r>
            <a:endParaRPr lang="en-US" sz="830" dirty="0"/>
          </a:p>
        </p:txBody>
      </p:sp>
      <p:pic>
        <p:nvPicPr>
          <p:cNvPr id="8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9600" y="6549033"/>
            <a:ext cx="142875" cy="118467"/>
          </a:xfrm>
          <a:prstGeom prst="rect">
            <a:avLst/>
          </a:prstGeom>
        </p:spPr>
      </p:pic>
      <p:sp>
        <p:nvSpPr>
          <p:cNvPr id="83" name="Text 80"/>
          <p:cNvSpPr/>
          <p:nvPr/>
        </p:nvSpPr>
        <p:spPr>
          <a:xfrm>
            <a:off x="847725" y="6551116"/>
            <a:ext cx="3569352" cy="1143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50"/>
              </a:lnSpc>
              <a:buNone/>
            </a:pPr>
            <a:r>
              <a:rPr lang="en-US" sz="790" b="1" spc="160" kern="0" dirty="0">
                <a:solidFill>
                  <a:srgbClr val="9B9A9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NINAJIRACHI · CHINA MARKET POTENTIAL REPORT</a:t>
            </a:r>
            <a:endParaRPr lang="en-US" sz="790" dirty="0"/>
          </a:p>
        </p:txBody>
      </p:sp>
      <p:sp>
        <p:nvSpPr>
          <p:cNvPr id="84" name="Text 81"/>
          <p:cNvSpPr/>
          <p:nvPr/>
        </p:nvSpPr>
        <p:spPr>
          <a:xfrm>
            <a:off x="11431042" y="6551116"/>
            <a:ext cx="227558" cy="1143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50"/>
              </a:lnSpc>
              <a:buNone/>
            </a:pPr>
            <a:r>
              <a:rPr lang="en-US" sz="790" b="1" spc="160" kern="0" dirty="0">
                <a:solidFill>
                  <a:srgbClr val="9B9A9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79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95300"/>
            <a:ext cx="2911301" cy="1333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30"/>
              </a:lnSpc>
              <a:buNone/>
            </a:pPr>
            <a:r>
              <a:rPr lang="en-US" sz="940" b="1" spc="280" kern="0" dirty="0">
                <a:solidFill>
                  <a:srgbClr val="E229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· DOUYIN (CHINA'S TIKTOK)</a:t>
            </a:r>
            <a:endParaRPr lang="en-US" sz="940" dirty="0"/>
          </a:p>
        </p:txBody>
      </p:sp>
      <p:sp>
        <p:nvSpPr>
          <p:cNvPr id="3" name="Text 1"/>
          <p:cNvSpPr/>
          <p:nvPr/>
        </p:nvSpPr>
        <p:spPr>
          <a:xfrm>
            <a:off x="609600" y="714375"/>
            <a:ext cx="3268414" cy="7745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20"/>
              </a:lnSpc>
              <a:buNone/>
            </a:pPr>
            <a:r>
              <a:rPr lang="en-US" sz="2700" b="1" spc="-30" kern="0" dirty="0">
                <a:solidFill>
                  <a:srgbClr val="1B1B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Trending Topic on Douyin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609600" y="1634728"/>
            <a:ext cx="4157663" cy="63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60"/>
              </a:lnSpc>
              <a:buNone/>
            </a:pPr>
            <a:r>
              <a:rPr lang="en-US" sz="1160" dirty="0">
                <a:solidFill>
                  <a:srgbClr val="6B6A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hashtag has collected </a:t>
            </a:r>
            <a:pPr algn="l" indent="0" marL="0">
              <a:lnSpc>
                <a:spcPts val="1860"/>
              </a:lnSpc>
              <a:buNone/>
            </a:pPr>
            <a:r>
              <a:rPr lang="en-US" sz="1160" dirty="0">
                <a:solidFill>
                  <a:srgbClr val="1B1B1D"/>
                </a:solidFill>
                <a:highlight>
                  <a:srgbClr val="E0F264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1.91 million views from 473 posting creators</a:t>
            </a:r>
            <a:pPr algn="l" indent="0" marL="0">
              <a:lnSpc>
                <a:spcPts val="1860"/>
              </a:lnSpc>
              <a:buNone/>
            </a:pPr>
            <a:r>
              <a:rPr lang="en-US" sz="1160" dirty="0">
                <a:solidFill>
                  <a:srgbClr val="6B6A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Posts come from fans, electronic-music media and festival pages sharing live clips, artist profiles and edits.</a:t>
            </a:r>
            <a:endParaRPr lang="en-US" sz="1160" dirty="0"/>
          </a:p>
        </p:txBody>
      </p:sp>
      <p:sp>
        <p:nvSpPr>
          <p:cNvPr id="5" name="Shape 3"/>
          <p:cNvSpPr/>
          <p:nvPr/>
        </p:nvSpPr>
        <p:spPr>
          <a:xfrm>
            <a:off x="609600" y="2505224"/>
            <a:ext cx="2038350" cy="908596"/>
          </a:xfrm>
          <a:prstGeom prst="roundRect">
            <a:avLst>
              <a:gd name="adj" fmla="val 9435"/>
            </a:avLst>
          </a:prstGeom>
          <a:solidFill>
            <a:srgbClr val="1A1B1E"/>
          </a:solidFill>
          <a:ln/>
        </p:spPr>
      </p:sp>
      <p:sp>
        <p:nvSpPr>
          <p:cNvPr id="6" name="Text 4"/>
          <p:cNvSpPr/>
          <p:nvPr/>
        </p:nvSpPr>
        <p:spPr>
          <a:xfrm>
            <a:off x="781050" y="2648099"/>
            <a:ext cx="1135112" cy="419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3000" b="1" dirty="0">
                <a:solidFill>
                  <a:srgbClr val="D6EF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1.91M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781050" y="3143399"/>
            <a:ext cx="1144042" cy="1143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60"/>
              </a:lnSpc>
              <a:buNone/>
            </a:pPr>
            <a:r>
              <a:rPr lang="en-US" sz="830" b="1" spc="120" kern="0" dirty="0">
                <a:solidFill>
                  <a:srgbClr val="B4B4B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HASHTAG VIEWS</a:t>
            </a:r>
            <a:endParaRPr lang="en-US" sz="830" dirty="0"/>
          </a:p>
        </p:txBody>
      </p:sp>
      <p:sp>
        <p:nvSpPr>
          <p:cNvPr id="8" name="Shape 6"/>
          <p:cNvSpPr/>
          <p:nvPr/>
        </p:nvSpPr>
        <p:spPr>
          <a:xfrm>
            <a:off x="2762250" y="2505224"/>
            <a:ext cx="2038350" cy="908596"/>
          </a:xfrm>
          <a:prstGeom prst="roundRect">
            <a:avLst>
              <a:gd name="adj" fmla="val 9435"/>
            </a:avLst>
          </a:prstGeom>
          <a:solidFill>
            <a:srgbClr val="1A1B1E"/>
          </a:solidFill>
          <a:ln/>
        </p:spPr>
      </p:sp>
      <p:sp>
        <p:nvSpPr>
          <p:cNvPr id="9" name="Text 7"/>
          <p:cNvSpPr/>
          <p:nvPr/>
        </p:nvSpPr>
        <p:spPr>
          <a:xfrm>
            <a:off x="2933700" y="2648099"/>
            <a:ext cx="711994" cy="419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3000" b="1" dirty="0">
                <a:solidFill>
                  <a:srgbClr val="D6EF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473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2933700" y="3143399"/>
            <a:ext cx="1389906" cy="1143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60"/>
              </a:lnSpc>
              <a:buNone/>
            </a:pPr>
            <a:r>
              <a:rPr lang="en-US" sz="830" b="1" spc="120" kern="0" dirty="0">
                <a:solidFill>
                  <a:srgbClr val="B4B4B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CREATORS POSTING</a:t>
            </a:r>
            <a:endParaRPr lang="en-US" sz="830" dirty="0"/>
          </a:p>
        </p:txBody>
      </p:sp>
      <p:sp>
        <p:nvSpPr>
          <p:cNvPr id="11" name="Shape 9"/>
          <p:cNvSpPr/>
          <p:nvPr/>
        </p:nvSpPr>
        <p:spPr>
          <a:xfrm>
            <a:off x="609600" y="3585270"/>
            <a:ext cx="4191000" cy="1123950"/>
          </a:xfrm>
          <a:prstGeom prst="roundRect">
            <a:avLst>
              <a:gd name="adj" fmla="val 8475"/>
            </a:avLst>
          </a:prstGeom>
          <a:solidFill>
            <a:srgbClr val="FFFFFF"/>
          </a:solidFill>
          <a:ln/>
        </p:spPr>
      </p:sp>
      <p:sp>
        <p:nvSpPr>
          <p:cNvPr id="12" name="Text 10"/>
          <p:cNvSpPr/>
          <p:nvPr/>
        </p:nvSpPr>
        <p:spPr>
          <a:xfrm>
            <a:off x="809625" y="3785295"/>
            <a:ext cx="3603278" cy="466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30"/>
              </a:lnSpc>
              <a:buNone/>
            </a:pPr>
            <a:r>
              <a:rPr lang="en-US" sz="1500" b="1" dirty="0">
                <a:solidFill>
                  <a:srgbClr val="1B1B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“Nina, when can you come to mainland China…”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809625" y="4375845"/>
            <a:ext cx="3949087" cy="1333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900" dirty="0">
                <a:solidFill>
                  <a:srgbClr val="6B6A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comment (54 likes) under the most-liked #ninajirachi post, 1 Oct 2026.</a:t>
            </a:r>
            <a:endParaRPr lang="en-US" sz="900" dirty="0"/>
          </a:p>
        </p:txBody>
      </p:sp>
      <p:pic>
        <p:nvPicPr>
          <p:cNvPr id="1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19700" y="495300"/>
            <a:ext cx="4381500" cy="733425"/>
          </a:xfrm>
          <a:prstGeom prst="rect">
            <a:avLst/>
          </a:prstGeom>
        </p:spPr>
      </p:pic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19700" y="1362075"/>
            <a:ext cx="3190875" cy="3619500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5219700" y="5114925"/>
            <a:ext cx="4191000" cy="890885"/>
          </a:xfrm>
          <a:prstGeom prst="roundRect">
            <a:avLst>
              <a:gd name="adj" fmla="val 8553"/>
            </a:avLst>
          </a:prstGeom>
          <a:solidFill>
            <a:srgbClr val="E0F264"/>
          </a:solidFill>
          <a:ln/>
        </p:spPr>
      </p:sp>
      <p:sp>
        <p:nvSpPr>
          <p:cNvPr id="17" name="Text 13"/>
          <p:cNvSpPr/>
          <p:nvPr/>
        </p:nvSpPr>
        <p:spPr>
          <a:xfrm>
            <a:off x="5353050" y="5210175"/>
            <a:ext cx="1274862" cy="1333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b="1" spc="130" kern="0" dirty="0">
                <a:solidFill>
                  <a:srgbClr val="1B1B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OUR PROMOTION</a:t>
            </a:r>
            <a:endParaRPr lang="en-US" sz="900" dirty="0"/>
          </a:p>
        </p:txBody>
      </p:sp>
      <p:sp>
        <p:nvSpPr>
          <p:cNvPr id="18" name="Text 14"/>
          <p:cNvSpPr/>
          <p:nvPr/>
        </p:nvSpPr>
        <p:spPr>
          <a:xfrm>
            <a:off x="5353050" y="5381625"/>
            <a:ext cx="3876675" cy="5018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10"/>
              </a:lnSpc>
              <a:buNone/>
            </a:pPr>
            <a:r>
              <a:rPr lang="en-US" sz="980" dirty="0">
                <a:solidFill>
                  <a:srgbClr val="1B1B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Promo video produced and posted by our own electronic-music news account, Electronic Live (电子音乐现场): 4,051 likes · 387 saves · 628 shares · 32 comments.</a:t>
            </a:r>
            <a:endParaRPr lang="en-US" sz="980" dirty="0"/>
          </a:p>
        </p:txBody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" y="6549033"/>
            <a:ext cx="142875" cy="118467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847725" y="6551116"/>
            <a:ext cx="3569352" cy="1143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50"/>
              </a:lnSpc>
              <a:buNone/>
            </a:pPr>
            <a:r>
              <a:rPr lang="en-US" sz="790" b="1" spc="160" kern="0" dirty="0">
                <a:solidFill>
                  <a:srgbClr val="9B9A9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NINAJIRACHI · CHINA MARKET POTENTIAL REPORT</a:t>
            </a:r>
            <a:endParaRPr lang="en-US" sz="790" dirty="0"/>
          </a:p>
        </p:txBody>
      </p:sp>
      <p:sp>
        <p:nvSpPr>
          <p:cNvPr id="21" name="Text 16"/>
          <p:cNvSpPr/>
          <p:nvPr/>
        </p:nvSpPr>
        <p:spPr>
          <a:xfrm>
            <a:off x="11431042" y="6551116"/>
            <a:ext cx="227558" cy="1143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50"/>
              </a:lnSpc>
              <a:buNone/>
            </a:pPr>
            <a:r>
              <a:rPr lang="en-US" sz="790" b="1" spc="160" kern="0" dirty="0">
                <a:solidFill>
                  <a:srgbClr val="9B9A9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79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95300"/>
            <a:ext cx="2911301" cy="1333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30"/>
              </a:lnSpc>
              <a:buNone/>
            </a:pPr>
            <a:r>
              <a:rPr lang="en-US" sz="940" b="1" spc="280" kern="0" dirty="0">
                <a:solidFill>
                  <a:srgbClr val="E229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· DOUYIN (CHINA'S TIKTOK)</a:t>
            </a:r>
            <a:endParaRPr lang="en-US" sz="940" dirty="0"/>
          </a:p>
        </p:txBody>
      </p:sp>
      <p:sp>
        <p:nvSpPr>
          <p:cNvPr id="3" name="Text 1"/>
          <p:cNvSpPr/>
          <p:nvPr/>
        </p:nvSpPr>
        <p:spPr>
          <a:xfrm>
            <a:off x="609600" y="714375"/>
            <a:ext cx="6278910" cy="3905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020"/>
              </a:lnSpc>
              <a:buNone/>
            </a:pPr>
            <a:r>
              <a:rPr lang="en-US" sz="2700" b="1" spc="-30" kern="0" dirty="0">
                <a:solidFill>
                  <a:srgbClr val="1B1B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posts under #ninajirachi, by likes</a:t>
            </a:r>
            <a:endParaRPr lang="en-US" sz="27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5325" y="1581150"/>
            <a:ext cx="2752725" cy="31242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71525" y="1657350"/>
            <a:ext cx="260598" cy="171450"/>
          </a:xfrm>
          <a:prstGeom prst="roundRect">
            <a:avLst>
              <a:gd name="adj" fmla="val 22222"/>
            </a:avLst>
          </a:prstGeom>
          <a:solidFill>
            <a:srgbClr val="1A1B1E"/>
          </a:solidFill>
          <a:ln/>
        </p:spPr>
      </p:sp>
      <p:sp>
        <p:nvSpPr>
          <p:cNvPr id="6" name="Text 3"/>
          <p:cNvSpPr/>
          <p:nvPr/>
        </p:nvSpPr>
        <p:spPr>
          <a:xfrm>
            <a:off x="838200" y="1676400"/>
            <a:ext cx="203448" cy="1333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b="1" dirty="0">
                <a:solidFill>
                  <a:srgbClr val="D6EF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#1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95325" y="4791075"/>
            <a:ext cx="1293614" cy="1333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30"/>
              </a:lnSpc>
              <a:buNone/>
            </a:pPr>
            <a:r>
              <a:rPr lang="en-US" sz="940" b="1" dirty="0">
                <a:solidFill>
                  <a:srgbClr val="1B1B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Electronic Live (ours)</a:t>
            </a:r>
            <a:endParaRPr lang="en-US" sz="940" dirty="0"/>
          </a:p>
        </p:txBody>
      </p:sp>
      <p:sp>
        <p:nvSpPr>
          <p:cNvPr id="8" name="Text 5"/>
          <p:cNvSpPr/>
          <p:nvPr/>
        </p:nvSpPr>
        <p:spPr>
          <a:xfrm>
            <a:off x="695325" y="4962525"/>
            <a:ext cx="2689324" cy="2556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0"/>
              </a:lnSpc>
              <a:buNone/>
            </a:pPr>
            <a:r>
              <a:rPr lang="en-US" sz="830" dirty="0">
                <a:solidFill>
                  <a:srgbClr val="6B6A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Oct 2026 · Our promo video: live clip from a Ninajirachi show</a:t>
            </a:r>
            <a:endParaRPr lang="en-US" sz="830" dirty="0"/>
          </a:p>
        </p:txBody>
      </p:sp>
      <p:sp>
        <p:nvSpPr>
          <p:cNvPr id="9" name="Shape 6"/>
          <p:cNvSpPr/>
          <p:nvPr/>
        </p:nvSpPr>
        <p:spPr>
          <a:xfrm>
            <a:off x="695325" y="5429250"/>
            <a:ext cx="2752725" cy="0"/>
          </a:xfrm>
          <a:prstGeom prst="line">
            <a:avLst/>
          </a:prstGeom>
          <a:noFill/>
          <a:ln w="9525">
            <a:solidFill>
              <a:srgbClr val="DCDAD1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95325" y="5486400"/>
            <a:ext cx="332036" cy="1143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40"/>
              </a:lnSpc>
              <a:buNone/>
            </a:pPr>
            <a:r>
              <a:rPr lang="en-US" sz="860" dirty="0">
                <a:solidFill>
                  <a:srgbClr val="6B6A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Likes</a:t>
            </a:r>
            <a:endParaRPr lang="en-US" sz="860" dirty="0"/>
          </a:p>
        </p:txBody>
      </p:sp>
      <p:sp>
        <p:nvSpPr>
          <p:cNvPr id="11" name="Text 8"/>
          <p:cNvSpPr/>
          <p:nvPr/>
        </p:nvSpPr>
        <p:spPr>
          <a:xfrm>
            <a:off x="3138041" y="5486400"/>
            <a:ext cx="386209" cy="1428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80" b="1" dirty="0">
                <a:solidFill>
                  <a:srgbClr val="E229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4,051</a:t>
            </a:r>
            <a:endParaRPr lang="en-US" sz="980" dirty="0"/>
          </a:p>
        </p:txBody>
      </p:sp>
      <p:sp>
        <p:nvSpPr>
          <p:cNvPr id="12" name="Text 9"/>
          <p:cNvSpPr/>
          <p:nvPr/>
        </p:nvSpPr>
        <p:spPr>
          <a:xfrm>
            <a:off x="695325" y="5667375"/>
            <a:ext cx="380702" cy="1143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40"/>
              </a:lnSpc>
              <a:buNone/>
            </a:pPr>
            <a:r>
              <a:rPr lang="en-US" sz="860" dirty="0">
                <a:solidFill>
                  <a:srgbClr val="6B6A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Saves</a:t>
            </a:r>
            <a:endParaRPr lang="en-US" sz="860" dirty="0"/>
          </a:p>
        </p:txBody>
      </p:sp>
      <p:sp>
        <p:nvSpPr>
          <p:cNvPr id="13" name="Text 10"/>
          <p:cNvSpPr/>
          <p:nvPr/>
        </p:nvSpPr>
        <p:spPr>
          <a:xfrm>
            <a:off x="3265289" y="5667375"/>
            <a:ext cx="258961" cy="1143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40"/>
              </a:lnSpc>
              <a:buNone/>
            </a:pPr>
            <a:r>
              <a:rPr lang="en-US" sz="860" b="1" dirty="0">
                <a:solidFill>
                  <a:srgbClr val="1B1B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387</a:t>
            </a:r>
            <a:endParaRPr lang="en-US" sz="860" dirty="0"/>
          </a:p>
        </p:txBody>
      </p:sp>
      <p:sp>
        <p:nvSpPr>
          <p:cNvPr id="14" name="Text 11"/>
          <p:cNvSpPr/>
          <p:nvPr/>
        </p:nvSpPr>
        <p:spPr>
          <a:xfrm>
            <a:off x="695325" y="5819775"/>
            <a:ext cx="605879" cy="1143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40"/>
              </a:lnSpc>
              <a:buNone/>
            </a:pPr>
            <a:r>
              <a:rPr lang="en-US" sz="860" dirty="0">
                <a:solidFill>
                  <a:srgbClr val="6B6A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Comments</a:t>
            </a:r>
            <a:endParaRPr lang="en-US" sz="860" dirty="0"/>
          </a:p>
        </p:txBody>
      </p:sp>
      <p:sp>
        <p:nvSpPr>
          <p:cNvPr id="15" name="Text 12"/>
          <p:cNvSpPr/>
          <p:nvPr/>
        </p:nvSpPr>
        <p:spPr>
          <a:xfrm>
            <a:off x="3326160" y="5819775"/>
            <a:ext cx="198090" cy="1143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40"/>
              </a:lnSpc>
              <a:buNone/>
            </a:pPr>
            <a:r>
              <a:rPr lang="en-US" sz="860" b="1" dirty="0">
                <a:solidFill>
                  <a:srgbClr val="1B1B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</a:t>
            </a:r>
            <a:endParaRPr lang="en-US" sz="860" dirty="0"/>
          </a:p>
        </p:txBody>
      </p:sp>
      <p:sp>
        <p:nvSpPr>
          <p:cNvPr id="16" name="Text 13"/>
          <p:cNvSpPr/>
          <p:nvPr/>
        </p:nvSpPr>
        <p:spPr>
          <a:xfrm>
            <a:off x="695325" y="5972175"/>
            <a:ext cx="423267" cy="1143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40"/>
              </a:lnSpc>
              <a:buNone/>
            </a:pPr>
            <a:r>
              <a:rPr lang="en-US" sz="860" dirty="0">
                <a:solidFill>
                  <a:srgbClr val="6B6A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Shares</a:t>
            </a:r>
            <a:endParaRPr lang="en-US" sz="860" dirty="0"/>
          </a:p>
        </p:txBody>
      </p:sp>
      <p:sp>
        <p:nvSpPr>
          <p:cNvPr id="17" name="Text 14"/>
          <p:cNvSpPr/>
          <p:nvPr/>
        </p:nvSpPr>
        <p:spPr>
          <a:xfrm>
            <a:off x="3265289" y="5972175"/>
            <a:ext cx="258961" cy="1143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40"/>
              </a:lnSpc>
              <a:buNone/>
            </a:pPr>
            <a:r>
              <a:rPr lang="en-US" sz="860" b="1" dirty="0">
                <a:solidFill>
                  <a:srgbClr val="1B1B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628</a:t>
            </a:r>
            <a:endParaRPr lang="en-US" sz="860" dirty="0"/>
          </a:p>
        </p:txBody>
      </p:sp>
      <p:pic>
        <p:nvPicPr>
          <p:cNvPr id="1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19500" y="1581150"/>
            <a:ext cx="1438275" cy="3124200"/>
          </a:xfrm>
          <a:prstGeom prst="rect">
            <a:avLst/>
          </a:prstGeom>
        </p:spPr>
      </p:pic>
      <p:sp>
        <p:nvSpPr>
          <p:cNvPr id="19" name="Shape 15"/>
          <p:cNvSpPr/>
          <p:nvPr/>
        </p:nvSpPr>
        <p:spPr>
          <a:xfrm>
            <a:off x="3695700" y="1657350"/>
            <a:ext cx="260598" cy="171450"/>
          </a:xfrm>
          <a:prstGeom prst="roundRect">
            <a:avLst>
              <a:gd name="adj" fmla="val 22222"/>
            </a:avLst>
          </a:prstGeom>
          <a:solidFill>
            <a:srgbClr val="1A1B1E"/>
          </a:solidFill>
          <a:ln/>
        </p:spPr>
      </p:sp>
      <p:sp>
        <p:nvSpPr>
          <p:cNvPr id="20" name="Text 16"/>
          <p:cNvSpPr/>
          <p:nvPr/>
        </p:nvSpPr>
        <p:spPr>
          <a:xfrm>
            <a:off x="3762375" y="1676400"/>
            <a:ext cx="203448" cy="1333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b="1" dirty="0">
                <a:solidFill>
                  <a:srgbClr val="D6EF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#2</a:t>
            </a:r>
            <a:endParaRPr lang="en-US" sz="900" dirty="0"/>
          </a:p>
        </p:txBody>
      </p:sp>
      <p:sp>
        <p:nvSpPr>
          <p:cNvPr id="21" name="Text 17"/>
          <p:cNvSpPr/>
          <p:nvPr/>
        </p:nvSpPr>
        <p:spPr>
          <a:xfrm>
            <a:off x="3619500" y="4791075"/>
            <a:ext cx="1293614" cy="1333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30"/>
              </a:lnSpc>
              <a:buNone/>
            </a:pPr>
            <a:r>
              <a:rPr lang="en-US" sz="940" b="1" dirty="0">
                <a:solidFill>
                  <a:srgbClr val="1B1B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Electronic Live (ours)</a:t>
            </a:r>
            <a:endParaRPr lang="en-US" sz="940" dirty="0"/>
          </a:p>
        </p:txBody>
      </p:sp>
      <p:sp>
        <p:nvSpPr>
          <p:cNvPr id="22" name="Text 18"/>
          <p:cNvSpPr/>
          <p:nvPr/>
        </p:nvSpPr>
        <p:spPr>
          <a:xfrm>
            <a:off x="3619500" y="4962525"/>
            <a:ext cx="1490067" cy="3970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0"/>
              </a:lnSpc>
              <a:buNone/>
            </a:pPr>
            <a:r>
              <a:rPr lang="en-US" sz="830" dirty="0">
                <a:solidFill>
                  <a:srgbClr val="6B6A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Aug 2026 · Our promo video: live clip asking fans about a China show</a:t>
            </a:r>
            <a:endParaRPr lang="en-US" sz="830" dirty="0"/>
          </a:p>
        </p:txBody>
      </p:sp>
      <p:sp>
        <p:nvSpPr>
          <p:cNvPr id="23" name="Shape 19"/>
          <p:cNvSpPr/>
          <p:nvPr/>
        </p:nvSpPr>
        <p:spPr>
          <a:xfrm>
            <a:off x="3619500" y="5429250"/>
            <a:ext cx="1438275" cy="0"/>
          </a:xfrm>
          <a:prstGeom prst="line">
            <a:avLst/>
          </a:prstGeom>
          <a:noFill/>
          <a:ln w="9525">
            <a:solidFill>
              <a:srgbClr val="DCDAD1"/>
            </a:solidFill>
            <a:prstDash val="solid"/>
          </a:ln>
        </p:spPr>
      </p:sp>
      <p:sp>
        <p:nvSpPr>
          <p:cNvPr id="24" name="Text 20"/>
          <p:cNvSpPr/>
          <p:nvPr/>
        </p:nvSpPr>
        <p:spPr>
          <a:xfrm>
            <a:off x="3619500" y="5486400"/>
            <a:ext cx="332036" cy="1143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40"/>
              </a:lnSpc>
              <a:buNone/>
            </a:pPr>
            <a:r>
              <a:rPr lang="en-US" sz="860" dirty="0">
                <a:solidFill>
                  <a:srgbClr val="6B6A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Likes</a:t>
            </a:r>
            <a:endParaRPr lang="en-US" sz="860" dirty="0"/>
          </a:p>
        </p:txBody>
      </p:sp>
      <p:sp>
        <p:nvSpPr>
          <p:cNvPr id="25" name="Text 21"/>
          <p:cNvSpPr/>
          <p:nvPr/>
        </p:nvSpPr>
        <p:spPr>
          <a:xfrm>
            <a:off x="4747766" y="5486400"/>
            <a:ext cx="386209" cy="1428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80" b="1" dirty="0">
                <a:solidFill>
                  <a:srgbClr val="E229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3,170</a:t>
            </a:r>
            <a:endParaRPr lang="en-US" sz="980" dirty="0"/>
          </a:p>
        </p:txBody>
      </p:sp>
      <p:sp>
        <p:nvSpPr>
          <p:cNvPr id="26" name="Text 22"/>
          <p:cNvSpPr/>
          <p:nvPr/>
        </p:nvSpPr>
        <p:spPr>
          <a:xfrm>
            <a:off x="3619500" y="5667375"/>
            <a:ext cx="380702" cy="1143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40"/>
              </a:lnSpc>
              <a:buNone/>
            </a:pPr>
            <a:r>
              <a:rPr lang="en-US" sz="860" dirty="0">
                <a:solidFill>
                  <a:srgbClr val="6B6A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Saves</a:t>
            </a:r>
            <a:endParaRPr lang="en-US" sz="860" dirty="0"/>
          </a:p>
        </p:txBody>
      </p:sp>
      <p:sp>
        <p:nvSpPr>
          <p:cNvPr id="27" name="Text 23"/>
          <p:cNvSpPr/>
          <p:nvPr/>
        </p:nvSpPr>
        <p:spPr>
          <a:xfrm>
            <a:off x="4875014" y="5667375"/>
            <a:ext cx="258961" cy="1143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40"/>
              </a:lnSpc>
              <a:buNone/>
            </a:pPr>
            <a:r>
              <a:rPr lang="en-US" sz="860" b="1" dirty="0">
                <a:solidFill>
                  <a:srgbClr val="1B1B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286</a:t>
            </a:r>
            <a:endParaRPr lang="en-US" sz="860" dirty="0"/>
          </a:p>
        </p:txBody>
      </p:sp>
      <p:sp>
        <p:nvSpPr>
          <p:cNvPr id="28" name="Text 24"/>
          <p:cNvSpPr/>
          <p:nvPr/>
        </p:nvSpPr>
        <p:spPr>
          <a:xfrm>
            <a:off x="3619500" y="5819775"/>
            <a:ext cx="605879" cy="1143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40"/>
              </a:lnSpc>
              <a:buNone/>
            </a:pPr>
            <a:r>
              <a:rPr lang="en-US" sz="860" dirty="0">
                <a:solidFill>
                  <a:srgbClr val="6B6A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Comments</a:t>
            </a:r>
            <a:endParaRPr lang="en-US" sz="860" dirty="0"/>
          </a:p>
        </p:txBody>
      </p:sp>
      <p:sp>
        <p:nvSpPr>
          <p:cNvPr id="29" name="Text 25"/>
          <p:cNvSpPr/>
          <p:nvPr/>
        </p:nvSpPr>
        <p:spPr>
          <a:xfrm>
            <a:off x="4935885" y="5819775"/>
            <a:ext cx="198090" cy="1143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40"/>
              </a:lnSpc>
              <a:buNone/>
            </a:pPr>
            <a:r>
              <a:rPr lang="en-US" sz="860" b="1" dirty="0">
                <a:solidFill>
                  <a:srgbClr val="1B1B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82</a:t>
            </a:r>
            <a:endParaRPr lang="en-US" sz="860" dirty="0"/>
          </a:p>
        </p:txBody>
      </p:sp>
      <p:sp>
        <p:nvSpPr>
          <p:cNvPr id="30" name="Text 26"/>
          <p:cNvSpPr/>
          <p:nvPr/>
        </p:nvSpPr>
        <p:spPr>
          <a:xfrm>
            <a:off x="3619500" y="5972175"/>
            <a:ext cx="423267" cy="1143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40"/>
              </a:lnSpc>
              <a:buNone/>
            </a:pPr>
            <a:r>
              <a:rPr lang="en-US" sz="860" dirty="0">
                <a:solidFill>
                  <a:srgbClr val="6B6A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Shares</a:t>
            </a:r>
            <a:endParaRPr lang="en-US" sz="860" dirty="0"/>
          </a:p>
        </p:txBody>
      </p:sp>
      <p:sp>
        <p:nvSpPr>
          <p:cNvPr id="31" name="Text 27"/>
          <p:cNvSpPr/>
          <p:nvPr/>
        </p:nvSpPr>
        <p:spPr>
          <a:xfrm>
            <a:off x="4875014" y="5972175"/>
            <a:ext cx="258961" cy="1143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40"/>
              </a:lnSpc>
              <a:buNone/>
            </a:pPr>
            <a:r>
              <a:rPr lang="en-US" sz="860" b="1" dirty="0">
                <a:solidFill>
                  <a:srgbClr val="1B1B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502</a:t>
            </a:r>
            <a:endParaRPr lang="en-US" sz="860" dirty="0"/>
          </a:p>
        </p:txBody>
      </p:sp>
      <p:pic>
        <p:nvPicPr>
          <p:cNvPr id="3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29225" y="1581150"/>
            <a:ext cx="1438275" cy="3124200"/>
          </a:xfrm>
          <a:prstGeom prst="rect">
            <a:avLst/>
          </a:prstGeom>
        </p:spPr>
      </p:pic>
      <p:sp>
        <p:nvSpPr>
          <p:cNvPr id="33" name="Shape 28"/>
          <p:cNvSpPr/>
          <p:nvPr/>
        </p:nvSpPr>
        <p:spPr>
          <a:xfrm>
            <a:off x="5305425" y="1657350"/>
            <a:ext cx="260598" cy="171450"/>
          </a:xfrm>
          <a:prstGeom prst="roundRect">
            <a:avLst>
              <a:gd name="adj" fmla="val 22222"/>
            </a:avLst>
          </a:prstGeom>
          <a:solidFill>
            <a:srgbClr val="1A1B1E"/>
          </a:solidFill>
          <a:ln/>
        </p:spPr>
      </p:sp>
      <p:sp>
        <p:nvSpPr>
          <p:cNvPr id="34" name="Text 29"/>
          <p:cNvSpPr/>
          <p:nvPr/>
        </p:nvSpPr>
        <p:spPr>
          <a:xfrm>
            <a:off x="5372100" y="1676400"/>
            <a:ext cx="203448" cy="1333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b="1" dirty="0">
                <a:solidFill>
                  <a:srgbClr val="D6EF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#3</a:t>
            </a:r>
            <a:endParaRPr lang="en-US" sz="900" dirty="0"/>
          </a:p>
        </p:txBody>
      </p:sp>
      <p:sp>
        <p:nvSpPr>
          <p:cNvPr id="35" name="Text 30"/>
          <p:cNvSpPr/>
          <p:nvPr/>
        </p:nvSpPr>
        <p:spPr>
          <a:xfrm>
            <a:off x="5229225" y="4791075"/>
            <a:ext cx="519559" cy="1333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30"/>
              </a:lnSpc>
              <a:buNone/>
            </a:pPr>
            <a:r>
              <a:rPr lang="en-US" sz="940" b="1" dirty="0">
                <a:solidFill>
                  <a:srgbClr val="1B1B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OurGen</a:t>
            </a:r>
            <a:endParaRPr lang="en-US" sz="940" dirty="0"/>
          </a:p>
        </p:txBody>
      </p:sp>
      <p:sp>
        <p:nvSpPr>
          <p:cNvPr id="36" name="Text 31"/>
          <p:cNvSpPr/>
          <p:nvPr/>
        </p:nvSpPr>
        <p:spPr>
          <a:xfrm>
            <a:off x="5229225" y="4962525"/>
            <a:ext cx="1418183" cy="3970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0"/>
              </a:lnSpc>
              <a:buNone/>
            </a:pPr>
            <a:r>
              <a:rPr lang="en-US" sz="830" dirty="0">
                <a:solidFill>
                  <a:srgbClr val="6B6A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Apr · The girl who built the future of electronic music in her bedroom</a:t>
            </a:r>
            <a:endParaRPr lang="en-US" sz="830" dirty="0"/>
          </a:p>
        </p:txBody>
      </p:sp>
      <p:sp>
        <p:nvSpPr>
          <p:cNvPr id="37" name="Shape 32"/>
          <p:cNvSpPr/>
          <p:nvPr/>
        </p:nvSpPr>
        <p:spPr>
          <a:xfrm>
            <a:off x="5229225" y="5429250"/>
            <a:ext cx="1438275" cy="0"/>
          </a:xfrm>
          <a:prstGeom prst="line">
            <a:avLst/>
          </a:prstGeom>
          <a:noFill/>
          <a:ln w="9525">
            <a:solidFill>
              <a:srgbClr val="DCDAD1"/>
            </a:solidFill>
            <a:prstDash val="solid"/>
          </a:ln>
        </p:spPr>
      </p:sp>
      <p:sp>
        <p:nvSpPr>
          <p:cNvPr id="38" name="Text 33"/>
          <p:cNvSpPr/>
          <p:nvPr/>
        </p:nvSpPr>
        <p:spPr>
          <a:xfrm>
            <a:off x="5229225" y="5486400"/>
            <a:ext cx="332036" cy="1143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40"/>
              </a:lnSpc>
              <a:buNone/>
            </a:pPr>
            <a:r>
              <a:rPr lang="en-US" sz="860" dirty="0">
                <a:solidFill>
                  <a:srgbClr val="6B6A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Likes</a:t>
            </a:r>
            <a:endParaRPr lang="en-US" sz="860" dirty="0"/>
          </a:p>
        </p:txBody>
      </p:sp>
      <p:sp>
        <p:nvSpPr>
          <p:cNvPr id="39" name="Text 34"/>
          <p:cNvSpPr/>
          <p:nvPr/>
        </p:nvSpPr>
        <p:spPr>
          <a:xfrm>
            <a:off x="6357491" y="5486400"/>
            <a:ext cx="386209" cy="1428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80" b="1" dirty="0">
                <a:solidFill>
                  <a:srgbClr val="E229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3,133</a:t>
            </a:r>
            <a:endParaRPr lang="en-US" sz="980" dirty="0"/>
          </a:p>
        </p:txBody>
      </p:sp>
      <p:sp>
        <p:nvSpPr>
          <p:cNvPr id="40" name="Text 35"/>
          <p:cNvSpPr/>
          <p:nvPr/>
        </p:nvSpPr>
        <p:spPr>
          <a:xfrm>
            <a:off x="5229225" y="5667375"/>
            <a:ext cx="380702" cy="1143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40"/>
              </a:lnSpc>
              <a:buNone/>
            </a:pPr>
            <a:r>
              <a:rPr lang="en-US" sz="860" dirty="0">
                <a:solidFill>
                  <a:srgbClr val="6B6A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Saves</a:t>
            </a:r>
            <a:endParaRPr lang="en-US" sz="860" dirty="0"/>
          </a:p>
        </p:txBody>
      </p:sp>
      <p:sp>
        <p:nvSpPr>
          <p:cNvPr id="41" name="Text 36"/>
          <p:cNvSpPr/>
          <p:nvPr/>
        </p:nvSpPr>
        <p:spPr>
          <a:xfrm>
            <a:off x="6484739" y="5667375"/>
            <a:ext cx="258961" cy="1143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40"/>
              </a:lnSpc>
              <a:buNone/>
            </a:pPr>
            <a:r>
              <a:rPr lang="en-US" sz="860" b="1" dirty="0">
                <a:solidFill>
                  <a:srgbClr val="1B1B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538</a:t>
            </a:r>
            <a:endParaRPr lang="en-US" sz="860" dirty="0"/>
          </a:p>
        </p:txBody>
      </p:sp>
      <p:sp>
        <p:nvSpPr>
          <p:cNvPr id="42" name="Text 37"/>
          <p:cNvSpPr/>
          <p:nvPr/>
        </p:nvSpPr>
        <p:spPr>
          <a:xfrm>
            <a:off x="5229225" y="5819775"/>
            <a:ext cx="605879" cy="1143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40"/>
              </a:lnSpc>
              <a:buNone/>
            </a:pPr>
            <a:r>
              <a:rPr lang="en-US" sz="860" dirty="0">
                <a:solidFill>
                  <a:srgbClr val="6B6A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Comments</a:t>
            </a:r>
            <a:endParaRPr lang="en-US" sz="860" dirty="0"/>
          </a:p>
        </p:txBody>
      </p:sp>
      <p:sp>
        <p:nvSpPr>
          <p:cNvPr id="43" name="Text 38"/>
          <p:cNvSpPr/>
          <p:nvPr/>
        </p:nvSpPr>
        <p:spPr>
          <a:xfrm>
            <a:off x="6545610" y="5819775"/>
            <a:ext cx="198090" cy="1143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40"/>
              </a:lnSpc>
              <a:buNone/>
            </a:pPr>
            <a:r>
              <a:rPr lang="en-US" sz="860" b="1" dirty="0">
                <a:solidFill>
                  <a:srgbClr val="1B1B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</a:t>
            </a:r>
            <a:endParaRPr lang="en-US" sz="860" dirty="0"/>
          </a:p>
        </p:txBody>
      </p:sp>
      <p:sp>
        <p:nvSpPr>
          <p:cNvPr id="44" name="Text 39"/>
          <p:cNvSpPr/>
          <p:nvPr/>
        </p:nvSpPr>
        <p:spPr>
          <a:xfrm>
            <a:off x="5229225" y="5972175"/>
            <a:ext cx="423267" cy="1143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40"/>
              </a:lnSpc>
              <a:buNone/>
            </a:pPr>
            <a:r>
              <a:rPr lang="en-US" sz="860" dirty="0">
                <a:solidFill>
                  <a:srgbClr val="6B6A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Shares</a:t>
            </a:r>
            <a:endParaRPr lang="en-US" sz="860" dirty="0"/>
          </a:p>
        </p:txBody>
      </p:sp>
      <p:sp>
        <p:nvSpPr>
          <p:cNvPr id="45" name="Text 40"/>
          <p:cNvSpPr/>
          <p:nvPr/>
        </p:nvSpPr>
        <p:spPr>
          <a:xfrm>
            <a:off x="6484739" y="5972175"/>
            <a:ext cx="258961" cy="1143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40"/>
              </a:lnSpc>
              <a:buNone/>
            </a:pPr>
            <a:r>
              <a:rPr lang="en-US" sz="860" b="1" dirty="0">
                <a:solidFill>
                  <a:srgbClr val="1B1B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400</a:t>
            </a:r>
            <a:endParaRPr lang="en-US" sz="860" dirty="0"/>
          </a:p>
        </p:txBody>
      </p:sp>
      <p:pic>
        <p:nvPicPr>
          <p:cNvPr id="4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38950" y="1581150"/>
            <a:ext cx="1438275" cy="3124200"/>
          </a:xfrm>
          <a:prstGeom prst="rect">
            <a:avLst/>
          </a:prstGeom>
        </p:spPr>
      </p:pic>
      <p:sp>
        <p:nvSpPr>
          <p:cNvPr id="47" name="Shape 41"/>
          <p:cNvSpPr/>
          <p:nvPr/>
        </p:nvSpPr>
        <p:spPr>
          <a:xfrm>
            <a:off x="6915150" y="1657350"/>
            <a:ext cx="260598" cy="171450"/>
          </a:xfrm>
          <a:prstGeom prst="roundRect">
            <a:avLst>
              <a:gd name="adj" fmla="val 22222"/>
            </a:avLst>
          </a:prstGeom>
          <a:solidFill>
            <a:srgbClr val="1A1B1E"/>
          </a:solidFill>
          <a:ln/>
        </p:spPr>
      </p:sp>
      <p:sp>
        <p:nvSpPr>
          <p:cNvPr id="48" name="Text 42"/>
          <p:cNvSpPr/>
          <p:nvPr/>
        </p:nvSpPr>
        <p:spPr>
          <a:xfrm>
            <a:off x="6981825" y="1676400"/>
            <a:ext cx="203448" cy="1333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b="1" dirty="0">
                <a:solidFill>
                  <a:srgbClr val="D6EF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#4</a:t>
            </a:r>
            <a:endParaRPr lang="en-US" sz="900" dirty="0"/>
          </a:p>
        </p:txBody>
      </p:sp>
      <p:sp>
        <p:nvSpPr>
          <p:cNvPr id="49" name="Text 43"/>
          <p:cNvSpPr/>
          <p:nvPr/>
        </p:nvSpPr>
        <p:spPr>
          <a:xfrm>
            <a:off x="6838950" y="4791075"/>
            <a:ext cx="1194495" cy="1333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30"/>
              </a:lnSpc>
              <a:buNone/>
            </a:pPr>
            <a:r>
              <a:rPr lang="en-US" sz="940" b="1" dirty="0">
                <a:solidFill>
                  <a:srgbClr val="1B1B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Electric Sheep EDM</a:t>
            </a:r>
            <a:endParaRPr lang="en-US" sz="940" dirty="0"/>
          </a:p>
        </p:txBody>
      </p:sp>
      <p:sp>
        <p:nvSpPr>
          <p:cNvPr id="50" name="Text 44"/>
          <p:cNvSpPr/>
          <p:nvPr/>
        </p:nvSpPr>
        <p:spPr>
          <a:xfrm>
            <a:off x="6838950" y="4962525"/>
            <a:ext cx="1489918" cy="2556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0"/>
              </a:lnSpc>
              <a:buNone/>
            </a:pPr>
            <a:r>
              <a:rPr lang="en-US" sz="830" dirty="0">
                <a:solidFill>
                  <a:srgbClr val="6B6A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Sep · Producer series, Ep. 7: Ninajirachi on staying real</a:t>
            </a:r>
            <a:endParaRPr lang="en-US" sz="830" dirty="0"/>
          </a:p>
        </p:txBody>
      </p:sp>
      <p:sp>
        <p:nvSpPr>
          <p:cNvPr id="51" name="Shape 45"/>
          <p:cNvSpPr/>
          <p:nvPr/>
        </p:nvSpPr>
        <p:spPr>
          <a:xfrm>
            <a:off x="6838950" y="5429250"/>
            <a:ext cx="1438275" cy="0"/>
          </a:xfrm>
          <a:prstGeom prst="line">
            <a:avLst/>
          </a:prstGeom>
          <a:noFill/>
          <a:ln w="9525">
            <a:solidFill>
              <a:srgbClr val="DCDAD1"/>
            </a:solidFill>
            <a:prstDash val="solid"/>
          </a:ln>
        </p:spPr>
      </p:sp>
      <p:sp>
        <p:nvSpPr>
          <p:cNvPr id="52" name="Text 46"/>
          <p:cNvSpPr/>
          <p:nvPr/>
        </p:nvSpPr>
        <p:spPr>
          <a:xfrm>
            <a:off x="6838950" y="5486400"/>
            <a:ext cx="332036" cy="1143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40"/>
              </a:lnSpc>
              <a:buNone/>
            </a:pPr>
            <a:r>
              <a:rPr lang="en-US" sz="860" dirty="0">
                <a:solidFill>
                  <a:srgbClr val="6B6A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Likes</a:t>
            </a:r>
            <a:endParaRPr lang="en-US" sz="860" dirty="0"/>
          </a:p>
        </p:txBody>
      </p:sp>
      <p:sp>
        <p:nvSpPr>
          <p:cNvPr id="53" name="Text 47"/>
          <p:cNvSpPr/>
          <p:nvPr/>
        </p:nvSpPr>
        <p:spPr>
          <a:xfrm>
            <a:off x="7967216" y="5486400"/>
            <a:ext cx="386209" cy="1428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80" b="1" dirty="0">
                <a:solidFill>
                  <a:srgbClr val="E229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2,162</a:t>
            </a:r>
            <a:endParaRPr lang="en-US" sz="980" dirty="0"/>
          </a:p>
        </p:txBody>
      </p:sp>
      <p:sp>
        <p:nvSpPr>
          <p:cNvPr id="54" name="Text 48"/>
          <p:cNvSpPr/>
          <p:nvPr/>
        </p:nvSpPr>
        <p:spPr>
          <a:xfrm>
            <a:off x="6838950" y="5667375"/>
            <a:ext cx="380702" cy="1143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40"/>
              </a:lnSpc>
              <a:buNone/>
            </a:pPr>
            <a:r>
              <a:rPr lang="en-US" sz="860" dirty="0">
                <a:solidFill>
                  <a:srgbClr val="6B6A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Saves</a:t>
            </a:r>
            <a:endParaRPr lang="en-US" sz="860" dirty="0"/>
          </a:p>
        </p:txBody>
      </p:sp>
      <p:sp>
        <p:nvSpPr>
          <p:cNvPr id="55" name="Text 49"/>
          <p:cNvSpPr/>
          <p:nvPr/>
        </p:nvSpPr>
        <p:spPr>
          <a:xfrm>
            <a:off x="8094464" y="5667375"/>
            <a:ext cx="258961" cy="1143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40"/>
              </a:lnSpc>
              <a:buNone/>
            </a:pPr>
            <a:r>
              <a:rPr lang="en-US" sz="860" b="1" dirty="0">
                <a:solidFill>
                  <a:srgbClr val="1B1B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288</a:t>
            </a:r>
            <a:endParaRPr lang="en-US" sz="860" dirty="0"/>
          </a:p>
        </p:txBody>
      </p:sp>
      <p:sp>
        <p:nvSpPr>
          <p:cNvPr id="56" name="Text 50"/>
          <p:cNvSpPr/>
          <p:nvPr/>
        </p:nvSpPr>
        <p:spPr>
          <a:xfrm>
            <a:off x="6838950" y="5819775"/>
            <a:ext cx="605879" cy="1143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40"/>
              </a:lnSpc>
              <a:buNone/>
            </a:pPr>
            <a:r>
              <a:rPr lang="en-US" sz="860" dirty="0">
                <a:solidFill>
                  <a:srgbClr val="6B6A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Comments</a:t>
            </a:r>
            <a:endParaRPr lang="en-US" sz="860" dirty="0"/>
          </a:p>
        </p:txBody>
      </p:sp>
      <p:sp>
        <p:nvSpPr>
          <p:cNvPr id="57" name="Text 51"/>
          <p:cNvSpPr/>
          <p:nvPr/>
        </p:nvSpPr>
        <p:spPr>
          <a:xfrm>
            <a:off x="8155335" y="5819775"/>
            <a:ext cx="198090" cy="1143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40"/>
              </a:lnSpc>
              <a:buNone/>
            </a:pPr>
            <a:r>
              <a:rPr lang="en-US" sz="860" b="1" dirty="0">
                <a:solidFill>
                  <a:srgbClr val="1B1B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49</a:t>
            </a:r>
            <a:endParaRPr lang="en-US" sz="860" dirty="0"/>
          </a:p>
        </p:txBody>
      </p:sp>
      <p:sp>
        <p:nvSpPr>
          <p:cNvPr id="58" name="Text 52"/>
          <p:cNvSpPr/>
          <p:nvPr/>
        </p:nvSpPr>
        <p:spPr>
          <a:xfrm>
            <a:off x="6838950" y="5972175"/>
            <a:ext cx="423267" cy="1143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40"/>
              </a:lnSpc>
              <a:buNone/>
            </a:pPr>
            <a:r>
              <a:rPr lang="en-US" sz="860" dirty="0">
                <a:solidFill>
                  <a:srgbClr val="6B6A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Shares</a:t>
            </a:r>
            <a:endParaRPr lang="en-US" sz="860" dirty="0"/>
          </a:p>
        </p:txBody>
      </p:sp>
      <p:sp>
        <p:nvSpPr>
          <p:cNvPr id="59" name="Text 53"/>
          <p:cNvSpPr/>
          <p:nvPr/>
        </p:nvSpPr>
        <p:spPr>
          <a:xfrm>
            <a:off x="8094464" y="5972175"/>
            <a:ext cx="258961" cy="1143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40"/>
              </a:lnSpc>
              <a:buNone/>
            </a:pPr>
            <a:r>
              <a:rPr lang="en-US" sz="860" b="1" dirty="0">
                <a:solidFill>
                  <a:srgbClr val="1B1B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286</a:t>
            </a:r>
            <a:endParaRPr lang="en-US" sz="860" dirty="0"/>
          </a:p>
        </p:txBody>
      </p:sp>
      <p:pic>
        <p:nvPicPr>
          <p:cNvPr id="6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48675" y="1581150"/>
            <a:ext cx="1438275" cy="3124200"/>
          </a:xfrm>
          <a:prstGeom prst="rect">
            <a:avLst/>
          </a:prstGeom>
        </p:spPr>
      </p:pic>
      <p:sp>
        <p:nvSpPr>
          <p:cNvPr id="61" name="Shape 54"/>
          <p:cNvSpPr/>
          <p:nvPr/>
        </p:nvSpPr>
        <p:spPr>
          <a:xfrm>
            <a:off x="8524875" y="1657350"/>
            <a:ext cx="260598" cy="171450"/>
          </a:xfrm>
          <a:prstGeom prst="roundRect">
            <a:avLst>
              <a:gd name="adj" fmla="val 22222"/>
            </a:avLst>
          </a:prstGeom>
          <a:solidFill>
            <a:srgbClr val="1A1B1E"/>
          </a:solidFill>
          <a:ln/>
        </p:spPr>
      </p:sp>
      <p:sp>
        <p:nvSpPr>
          <p:cNvPr id="62" name="Text 55"/>
          <p:cNvSpPr/>
          <p:nvPr/>
        </p:nvSpPr>
        <p:spPr>
          <a:xfrm>
            <a:off x="8591550" y="1676400"/>
            <a:ext cx="203448" cy="1333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b="1" dirty="0">
                <a:solidFill>
                  <a:srgbClr val="D6EF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#5</a:t>
            </a:r>
            <a:endParaRPr lang="en-US" sz="900" dirty="0"/>
          </a:p>
        </p:txBody>
      </p:sp>
      <p:sp>
        <p:nvSpPr>
          <p:cNvPr id="63" name="Text 56"/>
          <p:cNvSpPr/>
          <p:nvPr/>
        </p:nvSpPr>
        <p:spPr>
          <a:xfrm>
            <a:off x="8448675" y="4791075"/>
            <a:ext cx="704850" cy="1333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30"/>
              </a:lnSpc>
              <a:buNone/>
            </a:pPr>
            <a:r>
              <a:rPr lang="en-US" sz="940" b="1" dirty="0">
                <a:solidFill>
                  <a:srgbClr val="1B1B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Loopspace</a:t>
            </a:r>
            <a:endParaRPr lang="en-US" sz="940" dirty="0"/>
          </a:p>
        </p:txBody>
      </p:sp>
      <p:sp>
        <p:nvSpPr>
          <p:cNvPr id="64" name="Text 57"/>
          <p:cNvSpPr/>
          <p:nvPr/>
        </p:nvSpPr>
        <p:spPr>
          <a:xfrm>
            <a:off x="8448675" y="4962525"/>
            <a:ext cx="1396603" cy="2556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0"/>
              </a:lnSpc>
              <a:buNone/>
            </a:pPr>
            <a:r>
              <a:rPr lang="en-US" sz="830" dirty="0">
                <a:solidFill>
                  <a:srgbClr val="6B6A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Feb · “Meet a producer every day”, Ep. 1: Ninajirachi</a:t>
            </a:r>
            <a:endParaRPr lang="en-US" sz="830" dirty="0"/>
          </a:p>
        </p:txBody>
      </p:sp>
      <p:sp>
        <p:nvSpPr>
          <p:cNvPr id="65" name="Shape 58"/>
          <p:cNvSpPr/>
          <p:nvPr/>
        </p:nvSpPr>
        <p:spPr>
          <a:xfrm>
            <a:off x="8448675" y="5429250"/>
            <a:ext cx="1438275" cy="0"/>
          </a:xfrm>
          <a:prstGeom prst="line">
            <a:avLst/>
          </a:prstGeom>
          <a:noFill/>
          <a:ln w="9525">
            <a:solidFill>
              <a:srgbClr val="DCDAD1"/>
            </a:solidFill>
            <a:prstDash val="solid"/>
          </a:ln>
        </p:spPr>
      </p:sp>
      <p:sp>
        <p:nvSpPr>
          <p:cNvPr id="66" name="Text 59"/>
          <p:cNvSpPr/>
          <p:nvPr/>
        </p:nvSpPr>
        <p:spPr>
          <a:xfrm>
            <a:off x="8448675" y="5486400"/>
            <a:ext cx="332036" cy="1143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40"/>
              </a:lnSpc>
              <a:buNone/>
            </a:pPr>
            <a:r>
              <a:rPr lang="en-US" sz="860" dirty="0">
                <a:solidFill>
                  <a:srgbClr val="6B6A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Likes</a:t>
            </a:r>
            <a:endParaRPr lang="en-US" sz="860" dirty="0"/>
          </a:p>
        </p:txBody>
      </p:sp>
      <p:sp>
        <p:nvSpPr>
          <p:cNvPr id="67" name="Text 60"/>
          <p:cNvSpPr/>
          <p:nvPr/>
        </p:nvSpPr>
        <p:spPr>
          <a:xfrm>
            <a:off x="9576941" y="5486400"/>
            <a:ext cx="386209" cy="1428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80" b="1" dirty="0">
                <a:solidFill>
                  <a:srgbClr val="E229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2,064</a:t>
            </a:r>
            <a:endParaRPr lang="en-US" sz="980" dirty="0"/>
          </a:p>
        </p:txBody>
      </p:sp>
      <p:sp>
        <p:nvSpPr>
          <p:cNvPr id="68" name="Text 61"/>
          <p:cNvSpPr/>
          <p:nvPr/>
        </p:nvSpPr>
        <p:spPr>
          <a:xfrm>
            <a:off x="8448675" y="5667375"/>
            <a:ext cx="380702" cy="1143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40"/>
              </a:lnSpc>
              <a:buNone/>
            </a:pPr>
            <a:r>
              <a:rPr lang="en-US" sz="860" dirty="0">
                <a:solidFill>
                  <a:srgbClr val="6B6A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Saves</a:t>
            </a:r>
            <a:endParaRPr lang="en-US" sz="860" dirty="0"/>
          </a:p>
        </p:txBody>
      </p:sp>
      <p:sp>
        <p:nvSpPr>
          <p:cNvPr id="69" name="Text 62"/>
          <p:cNvSpPr/>
          <p:nvPr/>
        </p:nvSpPr>
        <p:spPr>
          <a:xfrm>
            <a:off x="9704189" y="5667375"/>
            <a:ext cx="258961" cy="1143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40"/>
              </a:lnSpc>
              <a:buNone/>
            </a:pPr>
            <a:r>
              <a:rPr lang="en-US" sz="860" b="1" dirty="0">
                <a:solidFill>
                  <a:srgbClr val="1B1B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381</a:t>
            </a:r>
            <a:endParaRPr lang="en-US" sz="860" dirty="0"/>
          </a:p>
        </p:txBody>
      </p:sp>
      <p:sp>
        <p:nvSpPr>
          <p:cNvPr id="70" name="Text 63"/>
          <p:cNvSpPr/>
          <p:nvPr/>
        </p:nvSpPr>
        <p:spPr>
          <a:xfrm>
            <a:off x="8448675" y="5819775"/>
            <a:ext cx="605879" cy="1143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40"/>
              </a:lnSpc>
              <a:buNone/>
            </a:pPr>
            <a:r>
              <a:rPr lang="en-US" sz="860" dirty="0">
                <a:solidFill>
                  <a:srgbClr val="6B6A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Comments</a:t>
            </a:r>
            <a:endParaRPr lang="en-US" sz="860" dirty="0"/>
          </a:p>
        </p:txBody>
      </p:sp>
      <p:sp>
        <p:nvSpPr>
          <p:cNvPr id="71" name="Text 64"/>
          <p:cNvSpPr/>
          <p:nvPr/>
        </p:nvSpPr>
        <p:spPr>
          <a:xfrm>
            <a:off x="9765060" y="5819775"/>
            <a:ext cx="198090" cy="1143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40"/>
              </a:lnSpc>
              <a:buNone/>
            </a:pPr>
            <a:r>
              <a:rPr lang="en-US" sz="860" b="1" dirty="0">
                <a:solidFill>
                  <a:srgbClr val="1B1B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67</a:t>
            </a:r>
            <a:endParaRPr lang="en-US" sz="860" dirty="0"/>
          </a:p>
        </p:txBody>
      </p:sp>
      <p:sp>
        <p:nvSpPr>
          <p:cNvPr id="72" name="Text 65"/>
          <p:cNvSpPr/>
          <p:nvPr/>
        </p:nvSpPr>
        <p:spPr>
          <a:xfrm>
            <a:off x="8448675" y="5972175"/>
            <a:ext cx="423267" cy="1143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40"/>
              </a:lnSpc>
              <a:buNone/>
            </a:pPr>
            <a:r>
              <a:rPr lang="en-US" sz="860" dirty="0">
                <a:solidFill>
                  <a:srgbClr val="6B6A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Shares</a:t>
            </a:r>
            <a:endParaRPr lang="en-US" sz="860" dirty="0"/>
          </a:p>
        </p:txBody>
      </p:sp>
      <p:sp>
        <p:nvSpPr>
          <p:cNvPr id="73" name="Text 66"/>
          <p:cNvSpPr/>
          <p:nvPr/>
        </p:nvSpPr>
        <p:spPr>
          <a:xfrm>
            <a:off x="9704189" y="5972175"/>
            <a:ext cx="258961" cy="1143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40"/>
              </a:lnSpc>
              <a:buNone/>
            </a:pPr>
            <a:r>
              <a:rPr lang="en-US" sz="860" b="1" dirty="0">
                <a:solidFill>
                  <a:srgbClr val="1B1B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179</a:t>
            </a:r>
            <a:endParaRPr lang="en-US" sz="860" dirty="0"/>
          </a:p>
        </p:txBody>
      </p:sp>
      <p:pic>
        <p:nvPicPr>
          <p:cNvPr id="74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058400" y="1581150"/>
            <a:ext cx="1438275" cy="3124200"/>
          </a:xfrm>
          <a:prstGeom prst="rect">
            <a:avLst/>
          </a:prstGeom>
        </p:spPr>
      </p:pic>
      <p:sp>
        <p:nvSpPr>
          <p:cNvPr id="75" name="Shape 67"/>
          <p:cNvSpPr/>
          <p:nvPr/>
        </p:nvSpPr>
        <p:spPr>
          <a:xfrm>
            <a:off x="10134600" y="1657350"/>
            <a:ext cx="260598" cy="171450"/>
          </a:xfrm>
          <a:prstGeom prst="roundRect">
            <a:avLst>
              <a:gd name="adj" fmla="val 22222"/>
            </a:avLst>
          </a:prstGeom>
          <a:solidFill>
            <a:srgbClr val="1A1B1E"/>
          </a:solidFill>
          <a:ln/>
        </p:spPr>
      </p:sp>
      <p:sp>
        <p:nvSpPr>
          <p:cNvPr id="76" name="Text 68"/>
          <p:cNvSpPr/>
          <p:nvPr/>
        </p:nvSpPr>
        <p:spPr>
          <a:xfrm>
            <a:off x="10201275" y="1676400"/>
            <a:ext cx="203448" cy="1333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b="1" dirty="0">
                <a:solidFill>
                  <a:srgbClr val="D6EF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#6</a:t>
            </a:r>
            <a:endParaRPr lang="en-US" sz="900" dirty="0"/>
          </a:p>
        </p:txBody>
      </p:sp>
      <p:sp>
        <p:nvSpPr>
          <p:cNvPr id="77" name="Text 69"/>
          <p:cNvSpPr/>
          <p:nvPr/>
        </p:nvSpPr>
        <p:spPr>
          <a:xfrm>
            <a:off x="10058400" y="4791075"/>
            <a:ext cx="1293614" cy="1333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30"/>
              </a:lnSpc>
              <a:buNone/>
            </a:pPr>
            <a:r>
              <a:rPr lang="en-US" sz="940" b="1" dirty="0">
                <a:solidFill>
                  <a:srgbClr val="1B1B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Electronic Live (ours)</a:t>
            </a:r>
            <a:endParaRPr lang="en-US" sz="940" dirty="0"/>
          </a:p>
        </p:txBody>
      </p:sp>
      <p:sp>
        <p:nvSpPr>
          <p:cNvPr id="78" name="Text 70"/>
          <p:cNvSpPr/>
          <p:nvPr/>
        </p:nvSpPr>
        <p:spPr>
          <a:xfrm>
            <a:off x="10058400" y="4962525"/>
            <a:ext cx="1416248" cy="2556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0"/>
              </a:lnSpc>
              <a:buNone/>
            </a:pPr>
            <a:r>
              <a:rPr lang="en-US" sz="830" dirty="0">
                <a:solidFill>
                  <a:srgbClr val="6B6A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 Aug 2026 · WannaCry live — “Will lots of DJs remix it?”</a:t>
            </a:r>
            <a:endParaRPr lang="en-US" sz="830" dirty="0"/>
          </a:p>
        </p:txBody>
      </p:sp>
      <p:sp>
        <p:nvSpPr>
          <p:cNvPr id="79" name="Shape 71"/>
          <p:cNvSpPr/>
          <p:nvPr/>
        </p:nvSpPr>
        <p:spPr>
          <a:xfrm>
            <a:off x="10058400" y="5429250"/>
            <a:ext cx="1438275" cy="0"/>
          </a:xfrm>
          <a:prstGeom prst="line">
            <a:avLst/>
          </a:prstGeom>
          <a:noFill/>
          <a:ln w="9525">
            <a:solidFill>
              <a:srgbClr val="DCDAD1"/>
            </a:solidFill>
            <a:prstDash val="solid"/>
          </a:ln>
        </p:spPr>
      </p:sp>
      <p:sp>
        <p:nvSpPr>
          <p:cNvPr id="80" name="Text 72"/>
          <p:cNvSpPr/>
          <p:nvPr/>
        </p:nvSpPr>
        <p:spPr>
          <a:xfrm>
            <a:off x="10058400" y="5486400"/>
            <a:ext cx="332036" cy="1143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40"/>
              </a:lnSpc>
              <a:buNone/>
            </a:pPr>
            <a:r>
              <a:rPr lang="en-US" sz="860" dirty="0">
                <a:solidFill>
                  <a:srgbClr val="6B6A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Likes</a:t>
            </a:r>
            <a:endParaRPr lang="en-US" sz="860" dirty="0"/>
          </a:p>
        </p:txBody>
      </p:sp>
      <p:sp>
        <p:nvSpPr>
          <p:cNvPr id="81" name="Text 73"/>
          <p:cNvSpPr/>
          <p:nvPr/>
        </p:nvSpPr>
        <p:spPr>
          <a:xfrm>
            <a:off x="11186666" y="5486400"/>
            <a:ext cx="386209" cy="1428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80" b="1" dirty="0">
                <a:solidFill>
                  <a:srgbClr val="E229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1,121</a:t>
            </a:r>
            <a:endParaRPr lang="en-US" sz="980" dirty="0"/>
          </a:p>
        </p:txBody>
      </p:sp>
      <p:sp>
        <p:nvSpPr>
          <p:cNvPr id="82" name="Text 74"/>
          <p:cNvSpPr/>
          <p:nvPr/>
        </p:nvSpPr>
        <p:spPr>
          <a:xfrm>
            <a:off x="10058400" y="5667375"/>
            <a:ext cx="380702" cy="1143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40"/>
              </a:lnSpc>
              <a:buNone/>
            </a:pPr>
            <a:r>
              <a:rPr lang="en-US" sz="860" dirty="0">
                <a:solidFill>
                  <a:srgbClr val="6B6A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Saves</a:t>
            </a:r>
            <a:endParaRPr lang="en-US" sz="860" dirty="0"/>
          </a:p>
        </p:txBody>
      </p:sp>
      <p:sp>
        <p:nvSpPr>
          <p:cNvPr id="83" name="Text 75"/>
          <p:cNvSpPr/>
          <p:nvPr/>
        </p:nvSpPr>
        <p:spPr>
          <a:xfrm>
            <a:off x="11313914" y="5667375"/>
            <a:ext cx="258961" cy="1143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40"/>
              </a:lnSpc>
              <a:buNone/>
            </a:pPr>
            <a:r>
              <a:rPr lang="en-US" sz="860" b="1" dirty="0">
                <a:solidFill>
                  <a:srgbClr val="1B1B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124</a:t>
            </a:r>
            <a:endParaRPr lang="en-US" sz="860" dirty="0"/>
          </a:p>
        </p:txBody>
      </p:sp>
      <p:sp>
        <p:nvSpPr>
          <p:cNvPr id="84" name="Text 76"/>
          <p:cNvSpPr/>
          <p:nvPr/>
        </p:nvSpPr>
        <p:spPr>
          <a:xfrm>
            <a:off x="10058400" y="5819775"/>
            <a:ext cx="605879" cy="1143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40"/>
              </a:lnSpc>
              <a:buNone/>
            </a:pPr>
            <a:r>
              <a:rPr lang="en-US" sz="860" dirty="0">
                <a:solidFill>
                  <a:srgbClr val="6B6A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Comments</a:t>
            </a:r>
            <a:endParaRPr lang="en-US" sz="860" dirty="0"/>
          </a:p>
        </p:txBody>
      </p:sp>
      <p:sp>
        <p:nvSpPr>
          <p:cNvPr id="85" name="Text 77"/>
          <p:cNvSpPr/>
          <p:nvPr/>
        </p:nvSpPr>
        <p:spPr>
          <a:xfrm>
            <a:off x="11374785" y="5819775"/>
            <a:ext cx="198090" cy="1143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40"/>
              </a:lnSpc>
              <a:buNone/>
            </a:pPr>
            <a:r>
              <a:rPr lang="en-US" sz="860" b="1" dirty="0">
                <a:solidFill>
                  <a:srgbClr val="1B1B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</a:t>
            </a:r>
            <a:endParaRPr lang="en-US" sz="860" dirty="0"/>
          </a:p>
        </p:txBody>
      </p:sp>
      <p:sp>
        <p:nvSpPr>
          <p:cNvPr id="86" name="Text 78"/>
          <p:cNvSpPr/>
          <p:nvPr/>
        </p:nvSpPr>
        <p:spPr>
          <a:xfrm>
            <a:off x="10058400" y="5972175"/>
            <a:ext cx="423267" cy="1143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40"/>
              </a:lnSpc>
              <a:buNone/>
            </a:pPr>
            <a:r>
              <a:rPr lang="en-US" sz="860" dirty="0">
                <a:solidFill>
                  <a:srgbClr val="6B6A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Shares</a:t>
            </a:r>
            <a:endParaRPr lang="en-US" sz="860" dirty="0"/>
          </a:p>
        </p:txBody>
      </p:sp>
      <p:sp>
        <p:nvSpPr>
          <p:cNvPr id="87" name="Text 79"/>
          <p:cNvSpPr/>
          <p:nvPr/>
        </p:nvSpPr>
        <p:spPr>
          <a:xfrm>
            <a:off x="11313914" y="5972175"/>
            <a:ext cx="258961" cy="1143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40"/>
              </a:lnSpc>
              <a:buNone/>
            </a:pPr>
            <a:r>
              <a:rPr lang="en-US" sz="860" b="1" dirty="0">
                <a:solidFill>
                  <a:srgbClr val="1B1B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283</a:t>
            </a:r>
            <a:endParaRPr lang="en-US" sz="860" dirty="0"/>
          </a:p>
        </p:txBody>
      </p:sp>
      <p:sp>
        <p:nvSpPr>
          <p:cNvPr id="88" name="Text 80"/>
          <p:cNvSpPr/>
          <p:nvPr/>
        </p:nvSpPr>
        <p:spPr>
          <a:xfrm>
            <a:off x="2905132" y="6229350"/>
            <a:ext cx="6381735" cy="1333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6B6A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Further posts from Vision Electronic, Musikorama, Orynx Audio Recs and other music accounts add 140–750 likes each.</a:t>
            </a:r>
            <a:endParaRPr lang="en-US" sz="900" dirty="0"/>
          </a:p>
        </p:txBody>
      </p:sp>
      <p:pic>
        <p:nvPicPr>
          <p:cNvPr id="89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9600" y="6549033"/>
            <a:ext cx="142875" cy="118467"/>
          </a:xfrm>
          <a:prstGeom prst="rect">
            <a:avLst/>
          </a:prstGeom>
        </p:spPr>
      </p:pic>
      <p:sp>
        <p:nvSpPr>
          <p:cNvPr id="90" name="Text 81"/>
          <p:cNvSpPr/>
          <p:nvPr/>
        </p:nvSpPr>
        <p:spPr>
          <a:xfrm>
            <a:off x="847725" y="6551116"/>
            <a:ext cx="3569352" cy="1143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50"/>
              </a:lnSpc>
              <a:buNone/>
            </a:pPr>
            <a:r>
              <a:rPr lang="en-US" sz="790" b="1" spc="160" kern="0" dirty="0">
                <a:solidFill>
                  <a:srgbClr val="9B9A9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NINAJIRACHI · CHINA MARKET POTENTIAL REPORT</a:t>
            </a:r>
            <a:endParaRPr lang="en-US" sz="790" dirty="0"/>
          </a:p>
        </p:txBody>
      </p:sp>
      <p:sp>
        <p:nvSpPr>
          <p:cNvPr id="91" name="Text 82"/>
          <p:cNvSpPr/>
          <p:nvPr/>
        </p:nvSpPr>
        <p:spPr>
          <a:xfrm>
            <a:off x="11431042" y="6551116"/>
            <a:ext cx="227558" cy="1143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50"/>
              </a:lnSpc>
              <a:buNone/>
            </a:pPr>
            <a:r>
              <a:rPr lang="en-US" sz="790" b="1" spc="160" kern="0" dirty="0">
                <a:solidFill>
                  <a:srgbClr val="9B9A9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79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95300"/>
            <a:ext cx="3155707" cy="1333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30"/>
              </a:lnSpc>
              <a:buNone/>
            </a:pPr>
            <a:r>
              <a:rPr lang="en-US" sz="940" b="1" spc="280" kern="0" dirty="0">
                <a:solidFill>
                  <a:srgbClr val="E229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· BILIBILI (CHINA'S YOUTUBE)</a:t>
            </a:r>
            <a:endParaRPr lang="en-US" sz="940" dirty="0"/>
          </a:p>
        </p:txBody>
      </p:sp>
      <p:sp>
        <p:nvSpPr>
          <p:cNvPr id="3" name="Text 1"/>
          <p:cNvSpPr/>
          <p:nvPr/>
        </p:nvSpPr>
        <p:spPr>
          <a:xfrm>
            <a:off x="609600" y="714375"/>
            <a:ext cx="3771007" cy="7745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20"/>
              </a:lnSpc>
              <a:buNone/>
            </a:pPr>
            <a:r>
              <a:rPr lang="en-US" sz="2700" b="1" spc="-30" kern="0" dirty="0">
                <a:solidFill>
                  <a:srgbClr val="1B1B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top search result clears 10K plays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609600" y="1634728"/>
            <a:ext cx="4414838" cy="870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60"/>
              </a:lnSpc>
              <a:buNone/>
            </a:pPr>
            <a:r>
              <a:rPr lang="en-US" sz="1160" dirty="0">
                <a:solidFill>
                  <a:srgbClr val="6B6A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Searching “ninajirachi” returns </a:t>
            </a:r>
            <a:pPr algn="l" indent="0" marL="0">
              <a:lnSpc>
                <a:spcPts val="1860"/>
              </a:lnSpc>
              <a:buNone/>
            </a:pPr>
            <a:r>
              <a:rPr lang="en-US" sz="1160" dirty="0">
                <a:solidFill>
                  <a:srgbClr val="1B1B1D"/>
                </a:solidFill>
                <a:highlight>
                  <a:srgbClr val="E0F264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99+ videos</a:t>
            </a:r>
            <a:pPr algn="l" indent="0" marL="0">
              <a:lnSpc>
                <a:spcPts val="1860"/>
              </a:lnSpc>
              <a:buNone/>
            </a:pPr>
            <a:r>
              <a:rPr lang="en-US" sz="1160" dirty="0">
                <a:solidFill>
                  <a:srgbClr val="6B6A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Sorted by plays, all of the top 10 are above 10,000 — 275K plays combined — from reaction videos and DJ mixes to a full Chinese translation of I Love My Computer.</a:t>
            </a:r>
            <a:endParaRPr lang="en-US" sz="1160" dirty="0"/>
          </a:p>
        </p:txBody>
      </p:sp>
      <p:sp>
        <p:nvSpPr>
          <p:cNvPr id="5" name="Text 3"/>
          <p:cNvSpPr/>
          <p:nvPr/>
        </p:nvSpPr>
        <p:spPr>
          <a:xfrm>
            <a:off x="609600" y="2727127"/>
            <a:ext cx="2214652" cy="1333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30"/>
              </a:lnSpc>
              <a:buNone/>
            </a:pPr>
            <a:r>
              <a:rPr lang="en-US" sz="900" dirty="0">
                <a:solidFill>
                  <a:srgbClr val="1B1B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Eliminate reaction — Kobaryo, Ninajirachi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895600" y="2722364"/>
            <a:ext cx="1714500" cy="152400"/>
          </a:xfrm>
          <a:prstGeom prst="rect">
            <a:avLst/>
          </a:prstGeom>
          <a:solidFill>
            <a:srgbClr val="ECEBE4"/>
          </a:solidFill>
          <a:ln/>
        </p:spPr>
      </p:sp>
      <p:sp>
        <p:nvSpPr>
          <p:cNvPr id="7" name="Shape 5"/>
          <p:cNvSpPr/>
          <p:nvPr/>
        </p:nvSpPr>
        <p:spPr>
          <a:xfrm>
            <a:off x="2895600" y="2722364"/>
            <a:ext cx="1714500" cy="152400"/>
          </a:xfrm>
          <a:prstGeom prst="rect">
            <a:avLst/>
          </a:prstGeom>
          <a:solidFill>
            <a:srgbClr val="E2297C"/>
          </a:solidFill>
          <a:ln/>
        </p:spPr>
      </p:sp>
      <p:sp>
        <p:nvSpPr>
          <p:cNvPr id="8" name="Text 6"/>
          <p:cNvSpPr/>
          <p:nvPr/>
        </p:nvSpPr>
        <p:spPr>
          <a:xfrm>
            <a:off x="4791670" y="2731889"/>
            <a:ext cx="294680" cy="1333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ts val="1130"/>
              </a:lnSpc>
              <a:buNone/>
            </a:pPr>
            <a:r>
              <a:rPr lang="en-US" sz="940" b="1" dirty="0">
                <a:solidFill>
                  <a:srgbClr val="1B1B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88K</a:t>
            </a:r>
            <a:endParaRPr lang="en-US" sz="940" dirty="0"/>
          </a:p>
        </p:txBody>
      </p:sp>
      <p:sp>
        <p:nvSpPr>
          <p:cNvPr id="9" name="Text 7"/>
          <p:cNvSpPr/>
          <p:nvPr/>
        </p:nvSpPr>
        <p:spPr>
          <a:xfrm>
            <a:off x="609600" y="2936677"/>
            <a:ext cx="2601263" cy="1333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30"/>
              </a:lnSpc>
              <a:buNone/>
            </a:pPr>
            <a:r>
              <a:rPr lang="en-US" sz="900" dirty="0">
                <a:solidFill>
                  <a:srgbClr val="1B1B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WannaCry visualiser — Porter Robinson (official)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2895600" y="2931914"/>
            <a:ext cx="1714500" cy="152400"/>
          </a:xfrm>
          <a:prstGeom prst="rect">
            <a:avLst/>
          </a:prstGeom>
          <a:solidFill>
            <a:srgbClr val="ECEBE4"/>
          </a:solidFill>
          <a:ln/>
        </p:spPr>
      </p:sp>
      <p:sp>
        <p:nvSpPr>
          <p:cNvPr id="11" name="Shape 9"/>
          <p:cNvSpPr/>
          <p:nvPr/>
        </p:nvSpPr>
        <p:spPr>
          <a:xfrm>
            <a:off x="2895600" y="2931914"/>
            <a:ext cx="915442" cy="152400"/>
          </a:xfrm>
          <a:prstGeom prst="rect">
            <a:avLst/>
          </a:prstGeom>
          <a:solidFill>
            <a:srgbClr val="1A1B1E"/>
          </a:solidFill>
          <a:ln/>
        </p:spPr>
      </p:sp>
      <p:sp>
        <p:nvSpPr>
          <p:cNvPr id="12" name="Text 10"/>
          <p:cNvSpPr/>
          <p:nvPr/>
        </p:nvSpPr>
        <p:spPr>
          <a:xfrm>
            <a:off x="4791670" y="2941439"/>
            <a:ext cx="294680" cy="1333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ts val="1130"/>
              </a:lnSpc>
              <a:buNone/>
            </a:pPr>
            <a:r>
              <a:rPr lang="en-US" sz="940" b="1" dirty="0">
                <a:solidFill>
                  <a:srgbClr val="1B1B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47K</a:t>
            </a:r>
            <a:endParaRPr lang="en-US" sz="940" dirty="0"/>
          </a:p>
        </p:txBody>
      </p:sp>
      <p:sp>
        <p:nvSpPr>
          <p:cNvPr id="13" name="Text 11"/>
          <p:cNvSpPr/>
          <p:nvPr/>
        </p:nvSpPr>
        <p:spPr>
          <a:xfrm>
            <a:off x="609600" y="3146227"/>
            <a:ext cx="2374672" cy="1333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30"/>
              </a:lnSpc>
              <a:buNone/>
            </a:pPr>
            <a:r>
              <a:rPr lang="en-US" sz="900" dirty="0">
                <a:solidFill>
                  <a:srgbClr val="1B1B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 Love My Computer — full-album translation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2895600" y="3141464"/>
            <a:ext cx="1714500" cy="152400"/>
          </a:xfrm>
          <a:prstGeom prst="rect">
            <a:avLst/>
          </a:prstGeom>
          <a:solidFill>
            <a:srgbClr val="ECEBE4"/>
          </a:solidFill>
          <a:ln/>
        </p:spPr>
      </p:sp>
      <p:sp>
        <p:nvSpPr>
          <p:cNvPr id="15" name="Shape 13"/>
          <p:cNvSpPr/>
          <p:nvPr/>
        </p:nvSpPr>
        <p:spPr>
          <a:xfrm>
            <a:off x="2895600" y="3141464"/>
            <a:ext cx="545157" cy="152400"/>
          </a:xfrm>
          <a:prstGeom prst="rect">
            <a:avLst/>
          </a:prstGeom>
          <a:solidFill>
            <a:srgbClr val="1A1B1E"/>
          </a:solidFill>
          <a:ln/>
        </p:spPr>
      </p:sp>
      <p:sp>
        <p:nvSpPr>
          <p:cNvPr id="16" name="Text 14"/>
          <p:cNvSpPr/>
          <p:nvPr/>
        </p:nvSpPr>
        <p:spPr>
          <a:xfrm>
            <a:off x="4791670" y="3150989"/>
            <a:ext cx="294680" cy="1333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ts val="1130"/>
              </a:lnSpc>
              <a:buNone/>
            </a:pPr>
            <a:r>
              <a:rPr lang="en-US" sz="940" b="1" dirty="0">
                <a:solidFill>
                  <a:srgbClr val="1B1B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28K</a:t>
            </a:r>
            <a:endParaRPr lang="en-US" sz="940" dirty="0"/>
          </a:p>
        </p:txBody>
      </p:sp>
      <p:sp>
        <p:nvSpPr>
          <p:cNvPr id="17" name="Text 15"/>
          <p:cNvSpPr/>
          <p:nvPr/>
        </p:nvSpPr>
        <p:spPr>
          <a:xfrm>
            <a:off x="609600" y="3355777"/>
            <a:ext cx="919014" cy="1333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30"/>
              </a:lnSpc>
              <a:buNone/>
            </a:pPr>
            <a:r>
              <a:rPr lang="en-US" sz="900" dirty="0">
                <a:solidFill>
                  <a:srgbClr val="1B1B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iPod Touch (MV)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2895600" y="3351014"/>
            <a:ext cx="1714500" cy="152400"/>
          </a:xfrm>
          <a:prstGeom prst="rect">
            <a:avLst/>
          </a:prstGeom>
          <a:solidFill>
            <a:srgbClr val="ECEBE4"/>
          </a:solidFill>
          <a:ln/>
        </p:spPr>
      </p:sp>
      <p:sp>
        <p:nvSpPr>
          <p:cNvPr id="19" name="Shape 17"/>
          <p:cNvSpPr/>
          <p:nvPr/>
        </p:nvSpPr>
        <p:spPr>
          <a:xfrm>
            <a:off x="2895600" y="3351014"/>
            <a:ext cx="428625" cy="152400"/>
          </a:xfrm>
          <a:prstGeom prst="rect">
            <a:avLst/>
          </a:prstGeom>
          <a:solidFill>
            <a:srgbClr val="1A1B1E"/>
          </a:solidFill>
          <a:ln/>
        </p:spPr>
      </p:sp>
      <p:sp>
        <p:nvSpPr>
          <p:cNvPr id="20" name="Text 18"/>
          <p:cNvSpPr/>
          <p:nvPr/>
        </p:nvSpPr>
        <p:spPr>
          <a:xfrm>
            <a:off x="4791670" y="3360539"/>
            <a:ext cx="294680" cy="1333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ts val="1130"/>
              </a:lnSpc>
              <a:buNone/>
            </a:pPr>
            <a:r>
              <a:rPr lang="en-US" sz="940" b="1" dirty="0">
                <a:solidFill>
                  <a:srgbClr val="1B1B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22K</a:t>
            </a:r>
            <a:endParaRPr lang="en-US" sz="940" dirty="0"/>
          </a:p>
        </p:txBody>
      </p:sp>
      <p:sp>
        <p:nvSpPr>
          <p:cNvPr id="21" name="Text 19"/>
          <p:cNvSpPr/>
          <p:nvPr/>
        </p:nvSpPr>
        <p:spPr>
          <a:xfrm>
            <a:off x="609600" y="3565327"/>
            <a:ext cx="2250125" cy="1333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30"/>
              </a:lnSpc>
              <a:buNone/>
            </a:pPr>
            <a:r>
              <a:rPr lang="en-US" sz="900" dirty="0">
                <a:solidFill>
                  <a:srgbClr val="1B1B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BiBi official MV — Billionhappy, Ninajirachi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2895600" y="3560564"/>
            <a:ext cx="1714500" cy="152400"/>
          </a:xfrm>
          <a:prstGeom prst="rect">
            <a:avLst/>
          </a:prstGeom>
          <a:solidFill>
            <a:srgbClr val="ECEBE4"/>
          </a:solidFill>
          <a:ln/>
        </p:spPr>
      </p:sp>
      <p:sp>
        <p:nvSpPr>
          <p:cNvPr id="23" name="Shape 21"/>
          <p:cNvSpPr/>
          <p:nvPr/>
        </p:nvSpPr>
        <p:spPr>
          <a:xfrm>
            <a:off x="2895600" y="3560564"/>
            <a:ext cx="370284" cy="152400"/>
          </a:xfrm>
          <a:prstGeom prst="rect">
            <a:avLst/>
          </a:prstGeom>
          <a:solidFill>
            <a:srgbClr val="1A1B1E"/>
          </a:solidFill>
          <a:ln/>
        </p:spPr>
      </p:sp>
      <p:sp>
        <p:nvSpPr>
          <p:cNvPr id="24" name="Text 22"/>
          <p:cNvSpPr/>
          <p:nvPr/>
        </p:nvSpPr>
        <p:spPr>
          <a:xfrm>
            <a:off x="4791670" y="3570089"/>
            <a:ext cx="294680" cy="1333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ts val="1130"/>
              </a:lnSpc>
              <a:buNone/>
            </a:pPr>
            <a:r>
              <a:rPr lang="en-US" sz="940" b="1" dirty="0">
                <a:solidFill>
                  <a:srgbClr val="1B1B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19K</a:t>
            </a:r>
            <a:endParaRPr lang="en-US" sz="940" dirty="0"/>
          </a:p>
        </p:txBody>
      </p:sp>
      <p:sp>
        <p:nvSpPr>
          <p:cNvPr id="25" name="Text 23"/>
          <p:cNvSpPr/>
          <p:nvPr/>
        </p:nvSpPr>
        <p:spPr>
          <a:xfrm>
            <a:off x="609600" y="3774877"/>
            <a:ext cx="1834448" cy="1333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30"/>
              </a:lnSpc>
              <a:buNone/>
            </a:pPr>
            <a:r>
              <a:rPr lang="en-US" sz="900" dirty="0">
                <a:solidFill>
                  <a:srgbClr val="1B1B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Infohazard — Forza Horizon 6 edit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2895600" y="3770114"/>
            <a:ext cx="1714500" cy="152400"/>
          </a:xfrm>
          <a:prstGeom prst="rect">
            <a:avLst/>
          </a:prstGeom>
          <a:solidFill>
            <a:srgbClr val="ECEBE4"/>
          </a:solidFill>
          <a:ln/>
        </p:spPr>
      </p:sp>
      <p:sp>
        <p:nvSpPr>
          <p:cNvPr id="27" name="Shape 25"/>
          <p:cNvSpPr/>
          <p:nvPr/>
        </p:nvSpPr>
        <p:spPr>
          <a:xfrm>
            <a:off x="2895600" y="3770114"/>
            <a:ext cx="351383" cy="152400"/>
          </a:xfrm>
          <a:prstGeom prst="rect">
            <a:avLst/>
          </a:prstGeom>
          <a:solidFill>
            <a:srgbClr val="1A1B1E"/>
          </a:solidFill>
          <a:ln/>
        </p:spPr>
      </p:sp>
      <p:sp>
        <p:nvSpPr>
          <p:cNvPr id="28" name="Text 26"/>
          <p:cNvSpPr/>
          <p:nvPr/>
        </p:nvSpPr>
        <p:spPr>
          <a:xfrm>
            <a:off x="4791670" y="3779639"/>
            <a:ext cx="294680" cy="1333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ts val="1130"/>
              </a:lnSpc>
              <a:buNone/>
            </a:pPr>
            <a:r>
              <a:rPr lang="en-US" sz="940" b="1" dirty="0">
                <a:solidFill>
                  <a:srgbClr val="1B1B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18K</a:t>
            </a:r>
            <a:endParaRPr lang="en-US" sz="940" dirty="0"/>
          </a:p>
        </p:txBody>
      </p:sp>
      <p:sp>
        <p:nvSpPr>
          <p:cNvPr id="29" name="Text 27"/>
          <p:cNvSpPr/>
          <p:nvPr/>
        </p:nvSpPr>
        <p:spPr>
          <a:xfrm>
            <a:off x="609600" y="3984427"/>
            <a:ext cx="1200894" cy="1333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30"/>
              </a:lnSpc>
              <a:buNone/>
            </a:pPr>
            <a:r>
              <a:rPr lang="en-US" sz="900" dirty="0">
                <a:solidFill>
                  <a:srgbClr val="1B1B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Comedy unboxing clip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2895600" y="3979664"/>
            <a:ext cx="1714500" cy="152400"/>
          </a:xfrm>
          <a:prstGeom prst="rect">
            <a:avLst/>
          </a:prstGeom>
          <a:solidFill>
            <a:srgbClr val="ECEBE4"/>
          </a:solidFill>
          <a:ln/>
        </p:spPr>
      </p:sp>
      <p:sp>
        <p:nvSpPr>
          <p:cNvPr id="31" name="Shape 29"/>
          <p:cNvSpPr/>
          <p:nvPr/>
        </p:nvSpPr>
        <p:spPr>
          <a:xfrm>
            <a:off x="2895600" y="3979664"/>
            <a:ext cx="291405" cy="152400"/>
          </a:xfrm>
          <a:prstGeom prst="rect">
            <a:avLst/>
          </a:prstGeom>
          <a:solidFill>
            <a:srgbClr val="1A1B1E"/>
          </a:solidFill>
          <a:ln/>
        </p:spPr>
      </p:sp>
      <p:sp>
        <p:nvSpPr>
          <p:cNvPr id="32" name="Text 30"/>
          <p:cNvSpPr/>
          <p:nvPr/>
        </p:nvSpPr>
        <p:spPr>
          <a:xfrm>
            <a:off x="4791670" y="3989189"/>
            <a:ext cx="294680" cy="1333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ts val="1130"/>
              </a:lnSpc>
              <a:buNone/>
            </a:pPr>
            <a:r>
              <a:rPr lang="en-US" sz="940" b="1" dirty="0">
                <a:solidFill>
                  <a:srgbClr val="1B1B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15K</a:t>
            </a:r>
            <a:endParaRPr lang="en-US" sz="940" dirty="0"/>
          </a:p>
        </p:txBody>
      </p:sp>
      <p:sp>
        <p:nvSpPr>
          <p:cNvPr id="33" name="Text 31"/>
          <p:cNvSpPr/>
          <p:nvPr/>
        </p:nvSpPr>
        <p:spPr>
          <a:xfrm>
            <a:off x="609600" y="4193977"/>
            <a:ext cx="2687680" cy="1333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30"/>
              </a:lnSpc>
              <a:buNone/>
            </a:pPr>
            <a:r>
              <a:rPr lang="en-US" sz="900" dirty="0">
                <a:solidFill>
                  <a:srgbClr val="1B1B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EDM &amp; hyperpop DJ mix (Charli xcx, A.G. Cook…)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2895600" y="4189214"/>
            <a:ext cx="1714500" cy="152400"/>
          </a:xfrm>
          <a:prstGeom prst="rect">
            <a:avLst/>
          </a:prstGeom>
          <a:solidFill>
            <a:srgbClr val="ECEBE4"/>
          </a:solidFill>
          <a:ln/>
        </p:spPr>
      </p:sp>
      <p:sp>
        <p:nvSpPr>
          <p:cNvPr id="35" name="Shape 33"/>
          <p:cNvSpPr/>
          <p:nvPr/>
        </p:nvSpPr>
        <p:spPr>
          <a:xfrm>
            <a:off x="2895600" y="4189214"/>
            <a:ext cx="272504" cy="152400"/>
          </a:xfrm>
          <a:prstGeom prst="rect">
            <a:avLst/>
          </a:prstGeom>
          <a:solidFill>
            <a:srgbClr val="1A1B1E"/>
          </a:solidFill>
          <a:ln/>
        </p:spPr>
      </p:sp>
      <p:sp>
        <p:nvSpPr>
          <p:cNvPr id="36" name="Text 34"/>
          <p:cNvSpPr/>
          <p:nvPr/>
        </p:nvSpPr>
        <p:spPr>
          <a:xfrm>
            <a:off x="4791670" y="4198739"/>
            <a:ext cx="294680" cy="1333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ts val="1130"/>
              </a:lnSpc>
              <a:buNone/>
            </a:pPr>
            <a:r>
              <a:rPr lang="en-US" sz="940" b="1" dirty="0">
                <a:solidFill>
                  <a:srgbClr val="1B1B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14K</a:t>
            </a:r>
            <a:endParaRPr lang="en-US" sz="940" dirty="0"/>
          </a:p>
        </p:txBody>
      </p:sp>
      <p:sp>
        <p:nvSpPr>
          <p:cNvPr id="37" name="Text 35"/>
          <p:cNvSpPr/>
          <p:nvPr/>
        </p:nvSpPr>
        <p:spPr>
          <a:xfrm>
            <a:off x="609600" y="4403527"/>
            <a:ext cx="1936179" cy="1333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30"/>
              </a:lnSpc>
              <a:buNone/>
            </a:pPr>
            <a:r>
              <a:rPr lang="en-US" sz="900" dirty="0">
                <a:solidFill>
                  <a:srgbClr val="1B1B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Mashup: I Choose You × iPod Touch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2895600" y="4398764"/>
            <a:ext cx="1714500" cy="152400"/>
          </a:xfrm>
          <a:prstGeom prst="rect">
            <a:avLst/>
          </a:prstGeom>
          <a:solidFill>
            <a:srgbClr val="ECEBE4"/>
          </a:solidFill>
          <a:ln/>
        </p:spPr>
      </p:sp>
      <p:sp>
        <p:nvSpPr>
          <p:cNvPr id="39" name="Shape 37"/>
          <p:cNvSpPr/>
          <p:nvPr/>
        </p:nvSpPr>
        <p:spPr>
          <a:xfrm>
            <a:off x="2895600" y="4398764"/>
            <a:ext cx="233065" cy="152400"/>
          </a:xfrm>
          <a:prstGeom prst="rect">
            <a:avLst/>
          </a:prstGeom>
          <a:solidFill>
            <a:srgbClr val="1A1B1E"/>
          </a:solidFill>
          <a:ln/>
        </p:spPr>
      </p:sp>
      <p:sp>
        <p:nvSpPr>
          <p:cNvPr id="40" name="Text 38"/>
          <p:cNvSpPr/>
          <p:nvPr/>
        </p:nvSpPr>
        <p:spPr>
          <a:xfrm>
            <a:off x="4791670" y="4408289"/>
            <a:ext cx="294680" cy="1333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ts val="1130"/>
              </a:lnSpc>
              <a:buNone/>
            </a:pPr>
            <a:r>
              <a:rPr lang="en-US" sz="940" b="1" dirty="0">
                <a:solidFill>
                  <a:srgbClr val="1B1B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12K</a:t>
            </a:r>
            <a:endParaRPr lang="en-US" sz="940" dirty="0"/>
          </a:p>
        </p:txBody>
      </p:sp>
      <p:sp>
        <p:nvSpPr>
          <p:cNvPr id="41" name="Text 39"/>
          <p:cNvSpPr/>
          <p:nvPr/>
        </p:nvSpPr>
        <p:spPr>
          <a:xfrm>
            <a:off x="609600" y="4613077"/>
            <a:ext cx="1308795" cy="1333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30"/>
              </a:lnSpc>
              <a:buNone/>
            </a:pPr>
            <a:r>
              <a:rPr lang="en-US" sz="900" dirty="0">
                <a:solidFill>
                  <a:srgbClr val="1B1B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Porter Robinson live clip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2895600" y="4608314"/>
            <a:ext cx="1714500" cy="152400"/>
          </a:xfrm>
          <a:prstGeom prst="rect">
            <a:avLst/>
          </a:prstGeom>
          <a:solidFill>
            <a:srgbClr val="ECEBE4"/>
          </a:solidFill>
          <a:ln/>
        </p:spPr>
      </p:sp>
      <p:sp>
        <p:nvSpPr>
          <p:cNvPr id="43" name="Shape 41"/>
          <p:cNvSpPr/>
          <p:nvPr/>
        </p:nvSpPr>
        <p:spPr>
          <a:xfrm>
            <a:off x="2895600" y="4608314"/>
            <a:ext cx="233065" cy="152400"/>
          </a:xfrm>
          <a:prstGeom prst="rect">
            <a:avLst/>
          </a:prstGeom>
          <a:solidFill>
            <a:srgbClr val="1A1B1E"/>
          </a:solidFill>
          <a:ln/>
        </p:spPr>
      </p:sp>
      <p:sp>
        <p:nvSpPr>
          <p:cNvPr id="44" name="Text 42"/>
          <p:cNvSpPr/>
          <p:nvPr/>
        </p:nvSpPr>
        <p:spPr>
          <a:xfrm>
            <a:off x="4791670" y="4617839"/>
            <a:ext cx="294680" cy="1333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ts val="1130"/>
              </a:lnSpc>
              <a:buNone/>
            </a:pPr>
            <a:r>
              <a:rPr lang="en-US" sz="940" b="1" dirty="0">
                <a:solidFill>
                  <a:srgbClr val="1B1B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12K</a:t>
            </a:r>
            <a:endParaRPr lang="en-US" sz="940" dirty="0"/>
          </a:p>
        </p:txBody>
      </p:sp>
      <p:sp>
        <p:nvSpPr>
          <p:cNvPr id="45" name="Text 43"/>
          <p:cNvSpPr/>
          <p:nvPr/>
        </p:nvSpPr>
        <p:spPr>
          <a:xfrm>
            <a:off x="609600" y="4836914"/>
            <a:ext cx="2953807" cy="1143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90"/>
              </a:lnSpc>
              <a:buNone/>
            </a:pPr>
            <a:r>
              <a:rPr lang="en-US" sz="830" dirty="0">
                <a:solidFill>
                  <a:srgbClr val="9B9A9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Plays as shown on Bilibili (rounded to the nearest thousand).</a:t>
            </a:r>
            <a:endParaRPr lang="en-US" sz="830" dirty="0"/>
          </a:p>
        </p:txBody>
      </p:sp>
      <p:pic>
        <p:nvPicPr>
          <p:cNvPr id="4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91150" y="1895475"/>
            <a:ext cx="6191250" cy="3028950"/>
          </a:xfrm>
          <a:prstGeom prst="rect">
            <a:avLst/>
          </a:prstGeom>
        </p:spPr>
      </p:pic>
      <p:pic>
        <p:nvPicPr>
          <p:cNvPr id="4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6549033"/>
            <a:ext cx="142875" cy="118467"/>
          </a:xfrm>
          <a:prstGeom prst="rect">
            <a:avLst/>
          </a:prstGeom>
        </p:spPr>
      </p:pic>
      <p:sp>
        <p:nvSpPr>
          <p:cNvPr id="48" name="Text 44"/>
          <p:cNvSpPr/>
          <p:nvPr/>
        </p:nvSpPr>
        <p:spPr>
          <a:xfrm>
            <a:off x="847725" y="6551116"/>
            <a:ext cx="3569352" cy="1143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50"/>
              </a:lnSpc>
              <a:buNone/>
            </a:pPr>
            <a:r>
              <a:rPr lang="en-US" sz="790" b="1" spc="160" kern="0" dirty="0">
                <a:solidFill>
                  <a:srgbClr val="9B9A9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NINAJIRACHI · CHINA MARKET POTENTIAL REPORT</a:t>
            </a:r>
            <a:endParaRPr lang="en-US" sz="790" dirty="0"/>
          </a:p>
        </p:txBody>
      </p:sp>
      <p:sp>
        <p:nvSpPr>
          <p:cNvPr id="49" name="Text 45"/>
          <p:cNvSpPr/>
          <p:nvPr/>
        </p:nvSpPr>
        <p:spPr>
          <a:xfrm>
            <a:off x="11431042" y="6551116"/>
            <a:ext cx="227558" cy="1143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50"/>
              </a:lnSpc>
              <a:buNone/>
            </a:pPr>
            <a:r>
              <a:rPr lang="en-US" sz="790" b="1" spc="160" kern="0" dirty="0">
                <a:solidFill>
                  <a:srgbClr val="9B9A9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79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A1B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95300"/>
            <a:ext cx="2501563" cy="1333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30"/>
              </a:lnSpc>
              <a:buNone/>
            </a:pPr>
            <a:r>
              <a:rPr lang="en-US" sz="940" b="1" spc="280" kern="0" dirty="0">
                <a:solidFill>
                  <a:srgbClr val="D6EF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· MARKET ASSESSMENT</a:t>
            </a:r>
            <a:endParaRPr lang="en-US" sz="940" dirty="0"/>
          </a:p>
        </p:txBody>
      </p:sp>
      <p:sp>
        <p:nvSpPr>
          <p:cNvPr id="3" name="Text 1"/>
          <p:cNvSpPr/>
          <p:nvPr/>
        </p:nvSpPr>
        <p:spPr>
          <a:xfrm>
            <a:off x="609600" y="714375"/>
            <a:ext cx="3648894" cy="3905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020"/>
              </a:lnSpc>
              <a:buNone/>
            </a:pPr>
            <a:r>
              <a:rPr lang="en-US" sz="2700" b="1" spc="-30" kern="0" dirty="0">
                <a:solidFill>
                  <a:srgbClr val="F2F2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China Market Outlook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09600" y="1619250"/>
            <a:ext cx="0" cy="471488"/>
          </a:xfrm>
          <a:prstGeom prst="line">
            <a:avLst/>
          </a:prstGeom>
          <a:noFill/>
          <a:ln w="28575">
            <a:solidFill>
              <a:srgbClr val="D6EF4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1525" y="1905000"/>
            <a:ext cx="4234904" cy="1428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80" dirty="0">
                <a:solidFill>
                  <a:srgbClr val="CFCFC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 two tracks, with nine tracks above 10K saves on NetEase Cloud Music</a:t>
            </a:r>
            <a:endParaRPr lang="en-US" sz="980" dirty="0"/>
          </a:p>
        </p:txBody>
      </p:sp>
      <p:sp>
        <p:nvSpPr>
          <p:cNvPr id="6" name="Text 4"/>
          <p:cNvSpPr/>
          <p:nvPr/>
        </p:nvSpPr>
        <p:spPr>
          <a:xfrm>
            <a:off x="771525" y="1638300"/>
            <a:ext cx="1340495" cy="2381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80"/>
              </a:lnSpc>
              <a:buNone/>
            </a:pPr>
            <a:r>
              <a:rPr lang="en-US" sz="1650" b="1" dirty="0">
                <a:solidFill>
                  <a:srgbClr val="D6EF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100K+ saves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09600" y="2205038"/>
            <a:ext cx="0" cy="471488"/>
          </a:xfrm>
          <a:prstGeom prst="line">
            <a:avLst/>
          </a:prstGeom>
          <a:noFill/>
          <a:ln w="28575">
            <a:solidFill>
              <a:srgbClr val="D6EF4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71525" y="2490788"/>
            <a:ext cx="2515002" cy="1428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80" dirty="0">
                <a:solidFill>
                  <a:srgbClr val="CFCFC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 #ninajirachi from 473 creators on Douyin</a:t>
            </a:r>
            <a:endParaRPr lang="en-US" sz="980" dirty="0"/>
          </a:p>
        </p:txBody>
      </p:sp>
      <p:sp>
        <p:nvSpPr>
          <p:cNvPr id="9" name="Text 7"/>
          <p:cNvSpPr/>
          <p:nvPr/>
        </p:nvSpPr>
        <p:spPr>
          <a:xfrm>
            <a:off x="771525" y="2224088"/>
            <a:ext cx="1287661" cy="2381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80"/>
              </a:lnSpc>
              <a:buNone/>
            </a:pPr>
            <a:r>
              <a:rPr lang="en-US" sz="1650" b="1" dirty="0">
                <a:solidFill>
                  <a:srgbClr val="D6EF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1.91M views</a:t>
            </a:r>
            <a:endParaRPr lang="en-US" sz="1650" dirty="0"/>
          </a:p>
        </p:txBody>
      </p:sp>
      <p:sp>
        <p:nvSpPr>
          <p:cNvPr id="10" name="Shape 8"/>
          <p:cNvSpPr/>
          <p:nvPr/>
        </p:nvSpPr>
        <p:spPr>
          <a:xfrm>
            <a:off x="609600" y="2790825"/>
            <a:ext cx="0" cy="471488"/>
          </a:xfrm>
          <a:prstGeom prst="line">
            <a:avLst/>
          </a:prstGeom>
          <a:noFill/>
          <a:ln w="28575">
            <a:solidFill>
              <a:srgbClr val="D6EF4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71525" y="3076575"/>
            <a:ext cx="3223372" cy="1428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80" dirty="0">
                <a:solidFill>
                  <a:srgbClr val="CFCFC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across the top 10 Bilibili search results, each above 10K</a:t>
            </a:r>
            <a:endParaRPr lang="en-US" sz="980" dirty="0"/>
          </a:p>
        </p:txBody>
      </p:sp>
      <p:sp>
        <p:nvSpPr>
          <p:cNvPr id="12" name="Text 10"/>
          <p:cNvSpPr/>
          <p:nvPr/>
        </p:nvSpPr>
        <p:spPr>
          <a:xfrm>
            <a:off x="771525" y="2809875"/>
            <a:ext cx="1171277" cy="2381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80"/>
              </a:lnSpc>
              <a:buNone/>
            </a:pPr>
            <a:r>
              <a:rPr lang="en-US" sz="1650" b="1" dirty="0">
                <a:solidFill>
                  <a:srgbClr val="D6EF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275K plays</a:t>
            </a:r>
            <a:endParaRPr lang="en-US" sz="1650" dirty="0"/>
          </a:p>
        </p:txBody>
      </p:sp>
      <p:sp>
        <p:nvSpPr>
          <p:cNvPr id="13" name="Shape 11"/>
          <p:cNvSpPr/>
          <p:nvPr/>
        </p:nvSpPr>
        <p:spPr>
          <a:xfrm>
            <a:off x="609600" y="3490913"/>
            <a:ext cx="5257800" cy="866775"/>
          </a:xfrm>
          <a:prstGeom prst="roundRect">
            <a:avLst>
              <a:gd name="adj" fmla="val 10989"/>
            </a:avLst>
          </a:prstGeom>
          <a:solidFill>
            <a:srgbClr val="26272B"/>
          </a:solidFill>
          <a:ln/>
        </p:spPr>
      </p:sp>
      <p:sp>
        <p:nvSpPr>
          <p:cNvPr id="14" name="Text 12"/>
          <p:cNvSpPr/>
          <p:nvPr/>
        </p:nvSpPr>
        <p:spPr>
          <a:xfrm>
            <a:off x="809625" y="3690937"/>
            <a:ext cx="4634642" cy="2095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3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“Nina, when can you come to mainland China…”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09625" y="4024313"/>
            <a:ext cx="3288849" cy="1333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900" dirty="0">
                <a:solidFill>
                  <a:srgbClr val="A9A9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Most-liked comment under the top #ninajirachi post on Douyin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6324600" y="1619250"/>
            <a:ext cx="5257800" cy="2789337"/>
          </a:xfrm>
          <a:prstGeom prst="roundRect">
            <a:avLst>
              <a:gd name="adj" fmla="val 3415"/>
            </a:avLst>
          </a:prstGeom>
          <a:solidFill>
            <a:srgbClr val="26272B"/>
          </a:solidFill>
          <a:ln/>
        </p:spPr>
      </p:sp>
      <p:sp>
        <p:nvSpPr>
          <p:cNvPr id="17" name="Text 15"/>
          <p:cNvSpPr/>
          <p:nvPr/>
        </p:nvSpPr>
        <p:spPr>
          <a:xfrm>
            <a:off x="6553200" y="1828800"/>
            <a:ext cx="1138089" cy="1333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b="1" spc="220" kern="0" dirty="0">
                <a:solidFill>
                  <a:srgbClr val="D6EF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ASSESSMENT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6553200" y="2095500"/>
            <a:ext cx="1936961" cy="1809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30"/>
              </a:lnSpc>
              <a:buNone/>
            </a:pPr>
            <a:r>
              <a:rPr lang="en-US" sz="12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Proven organic demand</a:t>
            </a:r>
            <a:endParaRPr lang="en-US" sz="1280" dirty="0"/>
          </a:p>
        </p:txBody>
      </p:sp>
      <p:sp>
        <p:nvSpPr>
          <p:cNvPr id="19" name="Text 17"/>
          <p:cNvSpPr/>
          <p:nvPr/>
        </p:nvSpPr>
        <p:spPr>
          <a:xfrm>
            <a:off x="6553200" y="2343150"/>
            <a:ext cx="4809381" cy="3347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10"/>
              </a:lnSpc>
              <a:buNone/>
            </a:pPr>
            <a:r>
              <a:rPr lang="en-US" sz="980" dirty="0">
                <a:solidFill>
                  <a:srgbClr val="B9B9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Ninajirachi already has a measurable audience on China's main streaming, short-video and long-video platforms, built through fans and music media.</a:t>
            </a:r>
            <a:endParaRPr lang="en-US" sz="980" dirty="0"/>
          </a:p>
        </p:txBody>
      </p:sp>
      <p:sp>
        <p:nvSpPr>
          <p:cNvPr id="20" name="Text 18"/>
          <p:cNvSpPr/>
          <p:nvPr/>
        </p:nvSpPr>
        <p:spPr>
          <a:xfrm>
            <a:off x="6553200" y="2841129"/>
            <a:ext cx="2381391" cy="1809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30"/>
              </a:lnSpc>
              <a:buNone/>
            </a:pPr>
            <a:r>
              <a:rPr lang="en-US" sz="12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Fans are asking for live dates</a:t>
            </a:r>
            <a:endParaRPr lang="en-US" sz="1280" dirty="0"/>
          </a:p>
        </p:txBody>
      </p:sp>
      <p:sp>
        <p:nvSpPr>
          <p:cNvPr id="21" name="Text 19"/>
          <p:cNvSpPr/>
          <p:nvPr/>
        </p:nvSpPr>
        <p:spPr>
          <a:xfrm>
            <a:off x="6553200" y="3088779"/>
            <a:ext cx="4516815" cy="1428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10"/>
              </a:lnSpc>
              <a:buNone/>
            </a:pPr>
            <a:r>
              <a:rPr lang="en-US" sz="980" dirty="0">
                <a:solidFill>
                  <a:srgbClr val="B9B9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Comments and posts repeatedly ask when she will perform in mainland China.</a:t>
            </a:r>
            <a:endParaRPr lang="en-US" sz="980" dirty="0"/>
          </a:p>
        </p:txBody>
      </p:sp>
      <p:sp>
        <p:nvSpPr>
          <p:cNvPr id="22" name="Text 20"/>
          <p:cNvSpPr/>
          <p:nvPr/>
        </p:nvSpPr>
        <p:spPr>
          <a:xfrm>
            <a:off x="6553200" y="3394918"/>
            <a:ext cx="3155707" cy="1809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30"/>
              </a:lnSpc>
              <a:buNone/>
            </a:pPr>
            <a:r>
              <a:rPr lang="en-US" sz="12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Official accounts unlock the next stage</a:t>
            </a:r>
            <a:endParaRPr lang="en-US" sz="1280" dirty="0"/>
          </a:p>
        </p:txBody>
      </p:sp>
      <p:sp>
        <p:nvSpPr>
          <p:cNvPr id="23" name="Text 21"/>
          <p:cNvSpPr/>
          <p:nvPr/>
        </p:nvSpPr>
        <p:spPr>
          <a:xfrm>
            <a:off x="6553200" y="3642568"/>
            <a:ext cx="4838849" cy="5265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10"/>
              </a:lnSpc>
              <a:buNone/>
            </a:pPr>
            <a:r>
              <a:rPr lang="en-US" sz="980" dirty="0">
                <a:solidFill>
                  <a:srgbClr val="B9B9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Opening official Douyin, Bilibili and NetEase Cloud Music accounts would capture this traffic in one place and give Chinese promoters clear evidence of her draw, opening the way to a first China tour.</a:t>
            </a:r>
            <a:endParaRPr lang="en-US" sz="980" dirty="0"/>
          </a:p>
        </p:txBody>
      </p:sp>
      <p:sp>
        <p:nvSpPr>
          <p:cNvPr id="24" name="Shape 22"/>
          <p:cNvSpPr/>
          <p:nvPr/>
        </p:nvSpPr>
        <p:spPr>
          <a:xfrm>
            <a:off x="6324600" y="4560987"/>
            <a:ext cx="5257800" cy="438150"/>
          </a:xfrm>
          <a:prstGeom prst="roundRect">
            <a:avLst>
              <a:gd name="adj" fmla="val 17391"/>
            </a:avLst>
          </a:prstGeom>
          <a:solidFill>
            <a:srgbClr val="E0F264"/>
          </a:solidFill>
          <a:ln/>
        </p:spPr>
      </p:sp>
      <p:sp>
        <p:nvSpPr>
          <p:cNvPr id="25" name="Text 23"/>
          <p:cNvSpPr/>
          <p:nvPr/>
        </p:nvSpPr>
        <p:spPr>
          <a:xfrm>
            <a:off x="6496050" y="4694337"/>
            <a:ext cx="3085073" cy="1619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Outlook: </a:t>
            </a:r>
            <a:pPr algn="l" indent="0" marL="0">
              <a:lnSpc>
                <a:spcPts val="1440"/>
              </a:lnSpc>
              <a:buNone/>
            </a:pPr>
            <a:r>
              <a:rPr lang="en-US" sz="1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strong potential for a China tour</a:t>
            </a:r>
            <a:endParaRPr lang="en-US" sz="1200" dirty="0"/>
          </a:p>
        </p:txBody>
      </p:sp>
      <p:pic>
        <p:nvPicPr>
          <p:cNvPr id="2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9600" y="6549033"/>
            <a:ext cx="142875" cy="118467"/>
          </a:xfrm>
          <a:prstGeom prst="rect">
            <a:avLst/>
          </a:prstGeom>
        </p:spPr>
      </p:pic>
      <p:sp>
        <p:nvSpPr>
          <p:cNvPr id="27" name="Text 24"/>
          <p:cNvSpPr/>
          <p:nvPr/>
        </p:nvSpPr>
        <p:spPr>
          <a:xfrm>
            <a:off x="847725" y="6551116"/>
            <a:ext cx="3569352" cy="1143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50"/>
              </a:lnSpc>
              <a:buNone/>
            </a:pPr>
            <a:r>
              <a:rPr lang="en-US" sz="790" b="1" spc="160" kern="0" dirty="0">
                <a:solidFill>
                  <a:srgbClr val="7777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NINAJIRACHI · CHINA MARKET POTENTIAL REPORT</a:t>
            </a:r>
            <a:endParaRPr lang="en-US" sz="790" dirty="0"/>
          </a:p>
        </p:txBody>
      </p:sp>
      <p:sp>
        <p:nvSpPr>
          <p:cNvPr id="28" name="Text 25"/>
          <p:cNvSpPr/>
          <p:nvPr/>
        </p:nvSpPr>
        <p:spPr>
          <a:xfrm>
            <a:off x="11431042" y="6551116"/>
            <a:ext cx="227558" cy="1143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50"/>
              </a:lnSpc>
              <a:buNone/>
            </a:pPr>
            <a:r>
              <a:rPr lang="en-US" sz="790" b="1" spc="160" kern="0" dirty="0">
                <a:solidFill>
                  <a:srgbClr val="7777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79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A1B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00675" y="0"/>
            <a:ext cx="679132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09600" y="2581275"/>
            <a:ext cx="4065352" cy="8953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6300"/>
              </a:lnSpc>
              <a:buNone/>
            </a:pPr>
            <a:r>
              <a:rPr lang="en-US" sz="6300" b="1" spc="-130" kern="0" dirty="0">
                <a:solidFill>
                  <a:srgbClr val="F2F2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  <a:endParaRPr lang="en-US" sz="6300" dirty="0"/>
          </a:p>
        </p:txBody>
      </p:sp>
      <p:sp>
        <p:nvSpPr>
          <p:cNvPr id="4" name="Text 1"/>
          <p:cNvSpPr/>
          <p:nvPr/>
        </p:nvSpPr>
        <p:spPr>
          <a:xfrm>
            <a:off x="609600" y="3638550"/>
            <a:ext cx="1986967" cy="2381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80"/>
              </a:lnSpc>
              <a:buNone/>
            </a:pPr>
            <a:r>
              <a:rPr lang="en-US" sz="1650" b="1" dirty="0">
                <a:solidFill>
                  <a:srgbClr val="D6EF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Ninajirachi × China</a:t>
            </a:r>
            <a:endParaRPr lang="en-US" sz="1650" dirty="0"/>
          </a:p>
        </p:txBody>
      </p:sp>
      <p:sp>
        <p:nvSpPr>
          <p:cNvPr id="5" name="Text 2"/>
          <p:cNvSpPr/>
          <p:nvPr/>
        </p:nvSpPr>
        <p:spPr>
          <a:xfrm>
            <a:off x="609600" y="4029075"/>
            <a:ext cx="1826166" cy="1619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130" dirty="0">
                <a:solidFill>
                  <a:srgbClr val="B9B9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Ready for a first China tour.</a:t>
            </a:r>
            <a:endParaRPr lang="en-US" sz="1130" dirty="0"/>
          </a:p>
        </p:txBody>
      </p:sp>
      <p:sp>
        <p:nvSpPr>
          <p:cNvPr id="6" name="Text 3"/>
          <p:cNvSpPr/>
          <p:nvPr/>
        </p:nvSpPr>
        <p:spPr>
          <a:xfrm>
            <a:off x="1009650" y="6263283"/>
            <a:ext cx="1727560" cy="1143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90"/>
              </a:lnSpc>
              <a:buNone/>
            </a:pPr>
            <a:r>
              <a:rPr lang="en-US" sz="830" b="1" spc="230" kern="0" dirty="0">
                <a:solidFill>
                  <a:srgbClr val="9B9B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GREENROOM.AGENCY</a:t>
            </a:r>
            <a:endParaRPr lang="en-US" sz="830" dirty="0"/>
          </a:p>
        </p:txBody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6201966"/>
            <a:ext cx="285750" cy="23693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GREENROOM.AGENCY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Ninajirachi — China Market Potential Report</dc:title>
  <dc:subject>PptxGenJS Presentation</dc:subject>
  <dc:creator>PptxGenJS</dc:creator>
  <cp:lastModifiedBy>PptxGenJS</cp:lastModifiedBy>
  <cp:revision>1</cp:revision>
  <dcterms:created xsi:type="dcterms:W3CDTF">2026-10-16T12:19:24Z</dcterms:created>
  <dcterms:modified xsi:type="dcterms:W3CDTF">2026-10-16T12:19:24Z</dcterms:modified>
</cp:coreProperties>
</file>