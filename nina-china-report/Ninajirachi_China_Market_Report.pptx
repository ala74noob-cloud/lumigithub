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5" y="0"/>
            <a:ext cx="679132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9650" y="480417"/>
            <a:ext cx="17275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30" b="1" spc="2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GREENROOM.AGENCY</a:t>
            </a:r>
            <a:endParaRPr lang="en-US" sz="83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100"/>
            <a:ext cx="285750" cy="2369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2448520"/>
            <a:ext cx="334494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MARKET POTENTIAL REPORT</a:t>
            </a:r>
            <a:endParaRPr lang="en-US" sz="940" dirty="0"/>
          </a:p>
        </p:txBody>
      </p:sp>
      <p:sp>
        <p:nvSpPr>
          <p:cNvPr id="6" name="Text 2"/>
          <p:cNvSpPr/>
          <p:nvPr/>
        </p:nvSpPr>
        <p:spPr>
          <a:xfrm>
            <a:off x="609600" y="2715220"/>
            <a:ext cx="31317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609600" y="3517850"/>
            <a:ext cx="31789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China is already listening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09600" y="3980706"/>
            <a:ext cx="411554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B9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Streaming, short-video and long-video data from NetEase Cloud Music, Douyin and Bilibili.</a:t>
            </a:r>
            <a:endParaRPr lang="en-US" sz="1130" dirty="0"/>
          </a:p>
        </p:txBody>
      </p:sp>
      <p:sp>
        <p:nvSpPr>
          <p:cNvPr id="9" name="Text 5"/>
          <p:cNvSpPr/>
          <p:nvPr/>
        </p:nvSpPr>
        <p:spPr>
          <a:xfrm>
            <a:off x="609600" y="6324600"/>
            <a:ext cx="24285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30" b="1" spc="180" kern="0" dirty="0">
                <a:solidFill>
                  <a:srgbClr val="8F8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RECORDED OCTOBER 2026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12650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609600" y="714375"/>
            <a:ext cx="7895362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700" b="1" spc="-30" kern="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audience in China that found her on its own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752"/>
            <a:ext cx="996421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Listeners, fan pages and music media are already sharing her work across China's three key platforms: NetEase Cloud Music, Douyin and Bilibili.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609600" y="2152650"/>
            <a:ext cx="3555950" cy="1899047"/>
          </a:xfrm>
          <a:prstGeom prst="roundRect">
            <a:avLst>
              <a:gd name="adj" fmla="val 4514"/>
            </a:avLst>
          </a:prstGeom>
          <a:solidFill>
            <a:srgbClr val="1A1B1E"/>
          </a:solidFill>
          <a:ln/>
        </p:spPr>
      </p:sp>
      <p:sp>
        <p:nvSpPr>
          <p:cNvPr id="6" name="Shape 4"/>
          <p:cNvSpPr/>
          <p:nvPr/>
        </p:nvSpPr>
        <p:spPr>
          <a:xfrm>
            <a:off x="819150" y="2362200"/>
            <a:ext cx="1571327" cy="161925"/>
          </a:xfrm>
          <a:prstGeom prst="roundRect">
            <a:avLst>
              <a:gd name="adj" fmla="val 23529"/>
            </a:avLst>
          </a:prstGeom>
          <a:solidFill>
            <a:srgbClr val="E0F264"/>
          </a:solidFill>
          <a:ln/>
        </p:spPr>
      </p:sp>
      <p:sp>
        <p:nvSpPr>
          <p:cNvPr id="7" name="Text 5"/>
          <p:cNvSpPr/>
          <p:nvPr/>
        </p:nvSpPr>
        <p:spPr>
          <a:xfrm>
            <a:off x="885825" y="2390775"/>
            <a:ext cx="151417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NETEASE CLOUD MUSIC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19150" y="2619375"/>
            <a:ext cx="196634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tracks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19150" y="3253680"/>
            <a:ext cx="145524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10,000+ SAVES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819150" y="3511748"/>
            <a:ext cx="2914055" cy="322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Pathetic and Pure Luck have passed 100,000 saves each.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317950" y="2152650"/>
            <a:ext cx="3555950" cy="1899047"/>
          </a:xfrm>
          <a:prstGeom prst="roundRect">
            <a:avLst>
              <a:gd name="adj" fmla="val 4514"/>
            </a:avLst>
          </a:prstGeom>
          <a:solidFill>
            <a:srgbClr val="1A1B1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7500" y="2362200"/>
            <a:ext cx="1571327" cy="161925"/>
          </a:xfrm>
          <a:prstGeom prst="roundRect">
            <a:avLst>
              <a:gd name="adj" fmla="val 23529"/>
            </a:avLst>
          </a:prstGeom>
          <a:solidFill>
            <a:srgbClr val="E0F264"/>
          </a:solidFill>
          <a:ln/>
        </p:spPr>
      </p:sp>
      <p:sp>
        <p:nvSpPr>
          <p:cNvPr id="13" name="Text 11"/>
          <p:cNvSpPr/>
          <p:nvPr/>
        </p:nvSpPr>
        <p:spPr>
          <a:xfrm>
            <a:off x="4594175" y="2390775"/>
            <a:ext cx="151417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NETEASE CLOUD MUSIC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27500" y="2619375"/>
            <a:ext cx="1591121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24,090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4527500" y="3253680"/>
            <a:ext cx="186960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ARTIST-PAGE FOLLOWERS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527500" y="3691235"/>
            <a:ext cx="27750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Album I Love My Computer saved 18,089 times.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026301" y="2152650"/>
            <a:ext cx="3556099" cy="1899047"/>
          </a:xfrm>
          <a:prstGeom prst="roundRect">
            <a:avLst>
              <a:gd name="adj" fmla="val 4514"/>
            </a:avLst>
          </a:prstGeom>
          <a:solidFill>
            <a:srgbClr val="1A1B1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35851" y="2362200"/>
            <a:ext cx="595313" cy="161925"/>
          </a:xfrm>
          <a:prstGeom prst="roundRect">
            <a:avLst>
              <a:gd name="adj" fmla="val 23529"/>
            </a:avLst>
          </a:prstGeom>
          <a:solidFill>
            <a:srgbClr val="E0F264"/>
          </a:solidFill>
          <a:ln/>
        </p:spPr>
      </p:sp>
      <p:sp>
        <p:nvSpPr>
          <p:cNvPr id="19" name="Text 17"/>
          <p:cNvSpPr/>
          <p:nvPr/>
        </p:nvSpPr>
        <p:spPr>
          <a:xfrm>
            <a:off x="8302526" y="2390775"/>
            <a:ext cx="5381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DOUYIN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35851" y="2619375"/>
            <a:ext cx="145286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1.91M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8235851" y="3253680"/>
            <a:ext cx="1750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ON #NINAJIRACHI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8235851" y="3691235"/>
            <a:ext cx="258782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 creators have posted under the hashtag.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09600" y="4204097"/>
            <a:ext cx="3555950" cy="1899047"/>
          </a:xfrm>
          <a:prstGeom prst="roundRect">
            <a:avLst>
              <a:gd name="adj" fmla="val 4514"/>
            </a:avLst>
          </a:prstGeom>
          <a:solidFill>
            <a:srgbClr val="1A1B1E"/>
          </a:solidFill>
          <a:ln/>
        </p:spPr>
      </p:sp>
      <p:sp>
        <p:nvSpPr>
          <p:cNvPr id="24" name="Shape 22"/>
          <p:cNvSpPr/>
          <p:nvPr/>
        </p:nvSpPr>
        <p:spPr>
          <a:xfrm>
            <a:off x="819150" y="4413647"/>
            <a:ext cx="595313" cy="161925"/>
          </a:xfrm>
          <a:prstGeom prst="roundRect">
            <a:avLst>
              <a:gd name="adj" fmla="val 23529"/>
            </a:avLst>
          </a:prstGeom>
          <a:solidFill>
            <a:srgbClr val="E0F264"/>
          </a:solidFill>
          <a:ln/>
        </p:spPr>
      </p:sp>
      <p:sp>
        <p:nvSpPr>
          <p:cNvPr id="25" name="Text 23"/>
          <p:cNvSpPr/>
          <p:nvPr/>
        </p:nvSpPr>
        <p:spPr>
          <a:xfrm>
            <a:off x="885825" y="4442222"/>
            <a:ext cx="5381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DOUYIN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9150" y="4670822"/>
            <a:ext cx="1315789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4,051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819150" y="5305127"/>
            <a:ext cx="175271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ON THE TOP POST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819150" y="5742682"/>
            <a:ext cx="192977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posts above 1,000 likes each.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4317950" y="4204097"/>
            <a:ext cx="3555950" cy="1899047"/>
          </a:xfrm>
          <a:prstGeom prst="roundRect">
            <a:avLst>
              <a:gd name="adj" fmla="val 4514"/>
            </a:avLst>
          </a:prstGeom>
          <a:solidFill>
            <a:srgbClr val="1A1B1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27500" y="4413647"/>
            <a:ext cx="615107" cy="161925"/>
          </a:xfrm>
          <a:prstGeom prst="roundRect">
            <a:avLst>
              <a:gd name="adj" fmla="val 23529"/>
            </a:avLst>
          </a:prstGeom>
          <a:solidFill>
            <a:srgbClr val="E0F264"/>
          </a:solidFill>
          <a:ln/>
        </p:spPr>
      </p:sp>
      <p:sp>
        <p:nvSpPr>
          <p:cNvPr id="31" name="Text 29"/>
          <p:cNvSpPr/>
          <p:nvPr/>
        </p:nvSpPr>
        <p:spPr>
          <a:xfrm>
            <a:off x="4594175" y="4442222"/>
            <a:ext cx="55795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BILIBILI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27500" y="4670822"/>
            <a:ext cx="159097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3900" dirty="0"/>
          </a:p>
        </p:txBody>
      </p:sp>
      <p:sp>
        <p:nvSpPr>
          <p:cNvPr id="33" name="Text 31"/>
          <p:cNvSpPr/>
          <p:nvPr/>
        </p:nvSpPr>
        <p:spPr>
          <a:xfrm>
            <a:off x="4527500" y="5305127"/>
            <a:ext cx="29420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SEARCH RESULTS ABOVE 10K PLAYS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4527500" y="5742682"/>
            <a:ext cx="25770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99+ videos; the top 10 add up to 275K plays.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8026301" y="4204097"/>
            <a:ext cx="3556099" cy="1899047"/>
          </a:xfrm>
          <a:prstGeom prst="roundRect">
            <a:avLst>
              <a:gd name="adj" fmla="val 4514"/>
            </a:avLst>
          </a:prstGeom>
          <a:solidFill>
            <a:srgbClr val="1A1B1E"/>
          </a:solidFill>
          <a:ln/>
        </p:spPr>
      </p:sp>
      <p:sp>
        <p:nvSpPr>
          <p:cNvPr id="36" name="Shape 34"/>
          <p:cNvSpPr/>
          <p:nvPr/>
        </p:nvSpPr>
        <p:spPr>
          <a:xfrm>
            <a:off x="8235851" y="4413647"/>
            <a:ext cx="920800" cy="161925"/>
          </a:xfrm>
          <a:prstGeom prst="roundRect">
            <a:avLst>
              <a:gd name="adj" fmla="val 23529"/>
            </a:avLst>
          </a:prstGeom>
          <a:solidFill>
            <a:srgbClr val="E0F264"/>
          </a:solidFill>
          <a:ln/>
        </p:spPr>
      </p:sp>
      <p:sp>
        <p:nvSpPr>
          <p:cNvPr id="37" name="Text 35"/>
          <p:cNvSpPr/>
          <p:nvPr/>
        </p:nvSpPr>
        <p:spPr>
          <a:xfrm>
            <a:off x="8302526" y="4442222"/>
            <a:ext cx="8636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spc="1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DEMAND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35851" y="4670822"/>
            <a:ext cx="2253250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“When?”</a:t>
            </a:r>
            <a:endParaRPr lang="en-US" sz="3900" dirty="0"/>
          </a:p>
        </p:txBody>
      </p:sp>
      <p:sp>
        <p:nvSpPr>
          <p:cNvPr id="39" name="Text 37"/>
          <p:cNvSpPr/>
          <p:nvPr/>
        </p:nvSpPr>
        <p:spPr>
          <a:xfrm>
            <a:off x="8235851" y="5305127"/>
            <a:ext cx="23954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0"/>
              </a:lnSpc>
              <a:buNone/>
            </a:pPr>
            <a:r>
              <a:rPr lang="en-US" sz="86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FANS ASKING FOR A CHINA SHOW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235851" y="5563195"/>
            <a:ext cx="3085505" cy="322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“Nina, when can you come to mainland China…” — top comment, Douyin.</a:t>
            </a:r>
            <a:endParaRPr lang="en-US" sz="98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549033"/>
            <a:ext cx="142875" cy="11846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47725" y="6551116"/>
            <a:ext cx="35693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 · CHINA MARKET POTENTIAL REPORT</a:t>
            </a:r>
            <a:endParaRPr lang="en-US" sz="790" dirty="0"/>
          </a:p>
        </p:txBody>
      </p:sp>
      <p:sp>
        <p:nvSpPr>
          <p:cNvPr id="43" name="Text 40"/>
          <p:cNvSpPr/>
          <p:nvPr/>
        </p:nvSpPr>
        <p:spPr>
          <a:xfrm>
            <a:off x="11431042" y="6551116"/>
            <a:ext cx="2275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265752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NETEASE CLOUD MUSIC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609600" y="714375"/>
            <a:ext cx="3472607" cy="77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700" b="1" spc="-30" kern="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tracks, ranked by saves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634728"/>
            <a:ext cx="3922216" cy="1106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save (收藏) means a listener added the track to their own library. </a:t>
            </a:r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1B1B1D"/>
                </a:solidFill>
                <a:highlight>
                  <a:srgbClr val="E0F26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Two tracks — Pathetic and Pure Luck — have passed 100,000 saves</a:t>
            </a:r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nine tracks have passed 10,000. For an electronic music producer, that is an exceptionally strong result in China.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609600" y="2996654"/>
            <a:ext cx="1943100" cy="975122"/>
          </a:xfrm>
          <a:prstGeom prst="roundRect">
            <a:avLst>
              <a:gd name="adj" fmla="val 8791"/>
            </a:avLst>
          </a:prstGeom>
          <a:solidFill>
            <a:srgbClr val="1A1B1E"/>
          </a:solidFill>
          <a:ln/>
        </p:spPr>
      </p:sp>
      <p:sp>
        <p:nvSpPr>
          <p:cNvPr id="6" name="Text 4"/>
          <p:cNvSpPr/>
          <p:nvPr/>
        </p:nvSpPr>
        <p:spPr>
          <a:xfrm>
            <a:off x="781050" y="3130004"/>
            <a:ext cx="10084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24,090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1050" y="3554760"/>
            <a:ext cx="87763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3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667000" y="2996654"/>
            <a:ext cx="1943100" cy="975122"/>
          </a:xfrm>
          <a:prstGeom prst="roundRect">
            <a:avLst>
              <a:gd name="adj" fmla="val 8791"/>
            </a:avLst>
          </a:prstGeom>
          <a:solidFill>
            <a:srgbClr val="1A1B1E"/>
          </a:solidFill>
          <a:ln/>
        </p:spPr>
      </p:sp>
      <p:sp>
        <p:nvSpPr>
          <p:cNvPr id="9" name="Text 7"/>
          <p:cNvSpPr/>
          <p:nvPr/>
        </p:nvSpPr>
        <p:spPr>
          <a:xfrm>
            <a:off x="2838450" y="3130004"/>
            <a:ext cx="10084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18,089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38450" y="3554760"/>
            <a:ext cx="1275011" cy="26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3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· I LOVE MY COMPUTER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09600" y="4133701"/>
            <a:ext cx="40213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Album released 8 Aug 2025 · 12 tracks · 919 comments · 222 tracks on her NetEase artist page.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5670054" y="576263"/>
            <a:ext cx="5284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30" b="1" spc="170" kern="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029200" y="533400"/>
            <a:ext cx="545604" cy="200025"/>
          </a:xfrm>
          <a:prstGeom prst="roundRect">
            <a:avLst>
              <a:gd name="adj" fmla="val 19048"/>
            </a:avLst>
          </a:prstGeom>
          <a:solidFill>
            <a:srgbClr val="E0F264"/>
          </a:solidFill>
          <a:ln/>
        </p:spPr>
      </p:sp>
      <p:sp>
        <p:nvSpPr>
          <p:cNvPr id="14" name="Text 12"/>
          <p:cNvSpPr/>
          <p:nvPr/>
        </p:nvSpPr>
        <p:spPr>
          <a:xfrm>
            <a:off x="5105400" y="561975"/>
            <a:ext cx="46940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spc="4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29200" y="1379190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999083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5467350" y="895350"/>
            <a:ext cx="7803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3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Pathetic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5467350" y="1131540"/>
            <a:ext cx="96559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Ninajirachi, NaaH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86900" y="970508"/>
            <a:ext cx="899517" cy="219075"/>
          </a:xfrm>
          <a:prstGeom prst="roundRect">
            <a:avLst>
              <a:gd name="adj" fmla="val 17391"/>
            </a:avLst>
          </a:prstGeom>
          <a:solidFill>
            <a:srgbClr val="E0F264"/>
          </a:solidFill>
          <a:ln/>
        </p:spPr>
      </p:sp>
      <p:sp>
        <p:nvSpPr>
          <p:cNvPr id="20" name="Text 18"/>
          <p:cNvSpPr/>
          <p:nvPr/>
        </p:nvSpPr>
        <p:spPr>
          <a:xfrm>
            <a:off x="9563100" y="1008608"/>
            <a:ext cx="82331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saves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10689729" y="1013371"/>
            <a:ext cx="89267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999+ comments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1967805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587698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5467350" y="1483965"/>
            <a:ext cx="9513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3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Luck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5467350" y="1720155"/>
            <a:ext cx="127054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Ninajirachi, Freya Staer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86900" y="1559123"/>
            <a:ext cx="899517" cy="219075"/>
          </a:xfrm>
          <a:prstGeom prst="roundRect">
            <a:avLst>
              <a:gd name="adj" fmla="val 17391"/>
            </a:avLst>
          </a:prstGeom>
          <a:solidFill>
            <a:srgbClr val="E0F264"/>
          </a:solidFill>
          <a:ln/>
        </p:spPr>
      </p:sp>
      <p:sp>
        <p:nvSpPr>
          <p:cNvPr id="27" name="Text 25"/>
          <p:cNvSpPr/>
          <p:nvPr/>
        </p:nvSpPr>
        <p:spPr>
          <a:xfrm>
            <a:off x="9563100" y="1597223"/>
            <a:ext cx="82331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saves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0689729" y="1601986"/>
            <a:ext cx="89267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999+ comments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96235" y="2144018"/>
            <a:ext cx="52848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30" b="1" spc="170" kern="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029200" y="2101155"/>
            <a:ext cx="471785" cy="200025"/>
          </a:xfrm>
          <a:prstGeom prst="roundRect">
            <a:avLst>
              <a:gd name="adj" fmla="val 19048"/>
            </a:avLst>
          </a:prstGeom>
          <a:solidFill>
            <a:srgbClr val="1A1B1E"/>
          </a:solidFill>
          <a:ln/>
        </p:spPr>
      </p:sp>
      <p:sp>
        <p:nvSpPr>
          <p:cNvPr id="31" name="Text 29"/>
          <p:cNvSpPr/>
          <p:nvPr/>
        </p:nvSpPr>
        <p:spPr>
          <a:xfrm>
            <a:off x="5105400" y="2129730"/>
            <a:ext cx="3955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spc="40" kern="0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029200" y="2830711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508796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5467350" y="2425005"/>
            <a:ext cx="8008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WannaCry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5467350" y="2621161"/>
            <a:ext cx="14992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Ninajirachi, Porter Robinson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486900" y="2480221"/>
            <a:ext cx="830610" cy="219075"/>
          </a:xfrm>
          <a:prstGeom prst="roundRect">
            <a:avLst>
              <a:gd name="adj" fmla="val 17391"/>
            </a:avLst>
          </a:prstGeom>
          <a:solidFill>
            <a:srgbClr val="1A1B1E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2518321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saves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0689729" y="2523083"/>
            <a:ext cx="89267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999+ comments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3303091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2981176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5467350" y="2897386"/>
            <a:ext cx="37147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BiBi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5467350" y="3093541"/>
            <a:ext cx="12812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Billionhappy, Ninajirachi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486900" y="2952601"/>
            <a:ext cx="830610" cy="219075"/>
          </a:xfrm>
          <a:prstGeom prst="roundRect">
            <a:avLst>
              <a:gd name="adj" fmla="val 17391"/>
            </a:avLst>
          </a:prstGeom>
          <a:solidFill>
            <a:srgbClr val="1A1B1E"/>
          </a:solidFill>
          <a:ln/>
        </p:spPr>
      </p:sp>
      <p:sp>
        <p:nvSpPr>
          <p:cNvPr id="44" name="Text 42"/>
          <p:cNvSpPr/>
          <p:nvPr/>
        </p:nvSpPr>
        <p:spPr>
          <a:xfrm>
            <a:off x="9563100" y="2990701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saves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10689729" y="2995464"/>
            <a:ext cx="89267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999+ comments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0" y="3775472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0" y="3453557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30" dirty="0"/>
          </a:p>
        </p:txBody>
      </p:sp>
      <p:sp>
        <p:nvSpPr>
          <p:cNvPr id="48" name="Text 46"/>
          <p:cNvSpPr/>
          <p:nvPr/>
        </p:nvSpPr>
        <p:spPr>
          <a:xfrm>
            <a:off x="5467350" y="3369766"/>
            <a:ext cx="64219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CSIRAC</a:t>
            </a:r>
            <a:endParaRPr lang="en-US" sz="1160" dirty="0"/>
          </a:p>
        </p:txBody>
      </p:sp>
      <p:sp>
        <p:nvSpPr>
          <p:cNvPr id="49" name="Text 47"/>
          <p:cNvSpPr/>
          <p:nvPr/>
        </p:nvSpPr>
        <p:spPr>
          <a:xfrm>
            <a:off x="5467350" y="3565922"/>
            <a:ext cx="6098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486900" y="3424982"/>
            <a:ext cx="830610" cy="219075"/>
          </a:xfrm>
          <a:prstGeom prst="roundRect">
            <a:avLst>
              <a:gd name="adj" fmla="val 17391"/>
            </a:avLst>
          </a:prstGeom>
          <a:solidFill>
            <a:srgbClr val="1A1B1E"/>
          </a:solidFill>
          <a:ln/>
        </p:spPr>
      </p:sp>
      <p:sp>
        <p:nvSpPr>
          <p:cNvPr id="51" name="Text 49"/>
          <p:cNvSpPr/>
          <p:nvPr/>
        </p:nvSpPr>
        <p:spPr>
          <a:xfrm>
            <a:off x="9563100" y="3463082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saves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10756553" y="3467844"/>
            <a:ext cx="8258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656 comments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0" y="4247852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0" y="3925937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30" dirty="0"/>
          </a:p>
        </p:txBody>
      </p:sp>
      <p:sp>
        <p:nvSpPr>
          <p:cNvPr id="55" name="Text 53"/>
          <p:cNvSpPr/>
          <p:nvPr/>
        </p:nvSpPr>
        <p:spPr>
          <a:xfrm>
            <a:off x="5467350" y="3842147"/>
            <a:ext cx="86900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iPod Touch</a:t>
            </a:r>
            <a:endParaRPr lang="en-US" sz="1160" dirty="0"/>
          </a:p>
        </p:txBody>
      </p:sp>
      <p:sp>
        <p:nvSpPr>
          <p:cNvPr id="56" name="Text 54"/>
          <p:cNvSpPr/>
          <p:nvPr/>
        </p:nvSpPr>
        <p:spPr>
          <a:xfrm>
            <a:off x="5467350" y="4038302"/>
            <a:ext cx="6098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486900" y="3897362"/>
            <a:ext cx="830610" cy="219075"/>
          </a:xfrm>
          <a:prstGeom prst="roundRect">
            <a:avLst>
              <a:gd name="adj" fmla="val 17391"/>
            </a:avLst>
          </a:prstGeom>
          <a:solidFill>
            <a:srgbClr val="1A1B1E"/>
          </a:solidFill>
          <a:ln/>
        </p:spPr>
      </p:sp>
      <p:sp>
        <p:nvSpPr>
          <p:cNvPr id="58" name="Text 56"/>
          <p:cNvSpPr/>
          <p:nvPr/>
        </p:nvSpPr>
        <p:spPr>
          <a:xfrm>
            <a:off x="9563100" y="3935462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saves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10756553" y="3940225"/>
            <a:ext cx="8258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590 comments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029200" y="4720233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4398318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30" dirty="0"/>
          </a:p>
        </p:txBody>
      </p:sp>
      <p:sp>
        <p:nvSpPr>
          <p:cNvPr id="62" name="Text 60"/>
          <p:cNvSpPr/>
          <p:nvPr/>
        </p:nvSpPr>
        <p:spPr>
          <a:xfrm>
            <a:off x="5467350" y="4314527"/>
            <a:ext cx="56867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Sisters</a:t>
            </a:r>
            <a:endParaRPr lang="en-US" sz="1160" dirty="0"/>
          </a:p>
        </p:txBody>
      </p:sp>
      <p:sp>
        <p:nvSpPr>
          <p:cNvPr id="63" name="Text 61"/>
          <p:cNvSpPr/>
          <p:nvPr/>
        </p:nvSpPr>
        <p:spPr>
          <a:xfrm>
            <a:off x="5467350" y="4510683"/>
            <a:ext cx="139109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 Children, Ninajirachi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486900" y="4369743"/>
            <a:ext cx="830610" cy="219075"/>
          </a:xfrm>
          <a:prstGeom prst="roundRect">
            <a:avLst>
              <a:gd name="adj" fmla="val 17391"/>
            </a:avLst>
          </a:prstGeom>
          <a:solidFill>
            <a:srgbClr val="1A1B1E"/>
          </a:solidFill>
          <a:ln/>
        </p:spPr>
      </p:sp>
      <p:sp>
        <p:nvSpPr>
          <p:cNvPr id="65" name="Text 63"/>
          <p:cNvSpPr/>
          <p:nvPr/>
        </p:nvSpPr>
        <p:spPr>
          <a:xfrm>
            <a:off x="9563100" y="4407843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saves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10756553" y="4412605"/>
            <a:ext cx="8258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584 comments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29200" y="5192613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0" y="4870698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30" dirty="0"/>
          </a:p>
        </p:txBody>
      </p:sp>
      <p:sp>
        <p:nvSpPr>
          <p:cNvPr id="69" name="Text 67"/>
          <p:cNvSpPr/>
          <p:nvPr/>
        </p:nvSpPr>
        <p:spPr>
          <a:xfrm>
            <a:off x="5467350" y="4786908"/>
            <a:ext cx="132308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F*** My Computer</a:t>
            </a:r>
            <a:endParaRPr lang="en-US" sz="1160" dirty="0"/>
          </a:p>
        </p:txBody>
      </p:sp>
      <p:sp>
        <p:nvSpPr>
          <p:cNvPr id="70" name="Text 68"/>
          <p:cNvSpPr/>
          <p:nvPr/>
        </p:nvSpPr>
        <p:spPr>
          <a:xfrm>
            <a:off x="5467350" y="4983063"/>
            <a:ext cx="6098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486900" y="4842123"/>
            <a:ext cx="830610" cy="219075"/>
          </a:xfrm>
          <a:prstGeom prst="roundRect">
            <a:avLst>
              <a:gd name="adj" fmla="val 17391"/>
            </a:avLst>
          </a:prstGeom>
          <a:solidFill>
            <a:srgbClr val="1A1B1E"/>
          </a:solidFill>
          <a:ln/>
        </p:spPr>
      </p:sp>
      <p:sp>
        <p:nvSpPr>
          <p:cNvPr id="72" name="Text 70"/>
          <p:cNvSpPr/>
          <p:nvPr/>
        </p:nvSpPr>
        <p:spPr>
          <a:xfrm>
            <a:off x="9563100" y="4880223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saves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10756553" y="4884986"/>
            <a:ext cx="8258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 comments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029200" y="5664994"/>
            <a:ext cx="655320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0" y="5343079"/>
            <a:ext cx="23514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3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30" dirty="0"/>
          </a:p>
        </p:txBody>
      </p:sp>
      <p:sp>
        <p:nvSpPr>
          <p:cNvPr id="76" name="Text 74"/>
          <p:cNvSpPr/>
          <p:nvPr/>
        </p:nvSpPr>
        <p:spPr>
          <a:xfrm>
            <a:off x="5467350" y="5259288"/>
            <a:ext cx="249499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Could U (Ninajirachi VIP Mix)</a:t>
            </a:r>
            <a:endParaRPr lang="en-US" sz="1160" dirty="0"/>
          </a:p>
        </p:txBody>
      </p:sp>
      <p:sp>
        <p:nvSpPr>
          <p:cNvPr id="77" name="Text 75"/>
          <p:cNvSpPr/>
          <p:nvPr/>
        </p:nvSpPr>
        <p:spPr>
          <a:xfrm>
            <a:off x="5467350" y="5455444"/>
            <a:ext cx="9908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Ninajirachi, BRUX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486900" y="5314504"/>
            <a:ext cx="830610" cy="219075"/>
          </a:xfrm>
          <a:prstGeom prst="roundRect">
            <a:avLst>
              <a:gd name="adj" fmla="val 17391"/>
            </a:avLst>
          </a:prstGeom>
          <a:solidFill>
            <a:srgbClr val="1A1B1E"/>
          </a:solidFill>
          <a:ln/>
        </p:spPr>
      </p:sp>
      <p:sp>
        <p:nvSpPr>
          <p:cNvPr id="79" name="Text 77"/>
          <p:cNvSpPr/>
          <p:nvPr/>
        </p:nvSpPr>
        <p:spPr>
          <a:xfrm>
            <a:off x="9563100" y="5352604"/>
            <a:ext cx="7544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saves</a:t>
            </a:r>
            <a:endParaRPr lang="en-US" sz="980" dirty="0"/>
          </a:p>
        </p:txBody>
      </p:sp>
      <p:sp>
        <p:nvSpPr>
          <p:cNvPr id="80" name="Text 78"/>
          <p:cNvSpPr/>
          <p:nvPr/>
        </p:nvSpPr>
        <p:spPr>
          <a:xfrm>
            <a:off x="10756553" y="5357366"/>
            <a:ext cx="82584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 comments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029200" y="5741194"/>
            <a:ext cx="492264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3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NetEase shows saves in bands (10K+, 100K+). Within a band, tracks are ordered by comment count.</a:t>
            </a:r>
            <a:endParaRPr lang="en-US" sz="830" dirty="0"/>
          </a:p>
        </p:txBody>
      </p:sp>
      <p:pic>
        <p:nvPicPr>
          <p:cNvPr id="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549033"/>
            <a:ext cx="142875" cy="118467"/>
          </a:xfrm>
          <a:prstGeom prst="rect">
            <a:avLst/>
          </a:prstGeom>
        </p:spPr>
      </p:pic>
      <p:sp>
        <p:nvSpPr>
          <p:cNvPr id="83" name="Text 80"/>
          <p:cNvSpPr/>
          <p:nvPr/>
        </p:nvSpPr>
        <p:spPr>
          <a:xfrm>
            <a:off x="847725" y="6551116"/>
            <a:ext cx="35693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 · CHINA MARKET POTENTIAL REPORT</a:t>
            </a:r>
            <a:endParaRPr lang="en-US" sz="790" dirty="0"/>
          </a:p>
        </p:txBody>
      </p:sp>
      <p:sp>
        <p:nvSpPr>
          <p:cNvPr id="84" name="Text 81"/>
          <p:cNvSpPr/>
          <p:nvPr/>
        </p:nvSpPr>
        <p:spPr>
          <a:xfrm>
            <a:off x="11431042" y="6551116"/>
            <a:ext cx="2275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291130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DOUYIN (CHINA'S TIKTOK)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609600" y="714375"/>
            <a:ext cx="378187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700" b="1" spc="-30" kern="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#ninajirachi on Douyin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50752"/>
            <a:ext cx="4157663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hashtag has collected </a:t>
            </a:r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1B1B1D"/>
                </a:solidFill>
                <a:highlight>
                  <a:srgbClr val="E0F26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1.91 million views from 473 posting creators</a:t>
            </a:r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posts come from fans, electronic-music media and festival pages sharing live clips, profiles and edits.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609600" y="2121247"/>
            <a:ext cx="2038350" cy="908596"/>
          </a:xfrm>
          <a:prstGeom prst="roundRect">
            <a:avLst>
              <a:gd name="adj" fmla="val 9435"/>
            </a:avLst>
          </a:prstGeom>
          <a:solidFill>
            <a:srgbClr val="1A1B1E"/>
          </a:solidFill>
          <a:ln/>
        </p:spPr>
      </p:sp>
      <p:sp>
        <p:nvSpPr>
          <p:cNvPr id="6" name="Text 4"/>
          <p:cNvSpPr/>
          <p:nvPr/>
        </p:nvSpPr>
        <p:spPr>
          <a:xfrm>
            <a:off x="781050" y="2264122"/>
            <a:ext cx="113511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1.91M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81050" y="2759422"/>
            <a:ext cx="11440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3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VIEWS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762250" y="2121247"/>
            <a:ext cx="2038350" cy="908596"/>
          </a:xfrm>
          <a:prstGeom prst="roundRect">
            <a:avLst>
              <a:gd name="adj" fmla="val 9435"/>
            </a:avLst>
          </a:prstGeom>
          <a:solidFill>
            <a:srgbClr val="1A1B1E"/>
          </a:solidFill>
          <a:ln/>
        </p:spPr>
      </p:sp>
      <p:sp>
        <p:nvSpPr>
          <p:cNvPr id="9" name="Text 7"/>
          <p:cNvSpPr/>
          <p:nvPr/>
        </p:nvSpPr>
        <p:spPr>
          <a:xfrm>
            <a:off x="2933700" y="2264122"/>
            <a:ext cx="711994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33700" y="2759422"/>
            <a:ext cx="138990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30" b="1" spc="120" kern="0" dirty="0">
                <a:solidFill>
                  <a:srgbClr val="B4B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POSTING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09600" y="3201293"/>
            <a:ext cx="419100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3401318"/>
            <a:ext cx="360327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“Nina, when can you come to mainland China…”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625" y="3991868"/>
            <a:ext cx="394908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comment (54 likes) under the most-liked #ninajirachi post, 1 Oct 2026.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495300"/>
            <a:ext cx="4381500" cy="733425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1362075"/>
            <a:ext cx="3695700" cy="419100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549033"/>
            <a:ext cx="142875" cy="1184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725" y="6551116"/>
            <a:ext cx="35693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 · CHINA MARKET POTENTIAL REPORT</a:t>
            </a:r>
            <a:endParaRPr lang="en-US" sz="790" dirty="0"/>
          </a:p>
        </p:txBody>
      </p:sp>
      <p:sp>
        <p:nvSpPr>
          <p:cNvPr id="18" name="Text 13"/>
          <p:cNvSpPr/>
          <p:nvPr/>
        </p:nvSpPr>
        <p:spPr>
          <a:xfrm>
            <a:off x="11431042" y="6551116"/>
            <a:ext cx="2275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291130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DOUYIN (CHINA'S TIKTOK)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609600" y="714375"/>
            <a:ext cx="6278910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700" b="1" spc="-30" kern="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posts under #ninajirachi, by likes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1581150"/>
            <a:ext cx="2800350" cy="3171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275" y="1657350"/>
            <a:ext cx="260598" cy="171450"/>
          </a:xfrm>
          <a:prstGeom prst="roundRect">
            <a:avLst>
              <a:gd name="adj" fmla="val 22222"/>
            </a:avLst>
          </a:prstGeom>
          <a:solidFill>
            <a:srgbClr val="1A1B1E"/>
          </a:solidFill>
          <a:ln/>
        </p:spPr>
      </p:sp>
      <p:sp>
        <p:nvSpPr>
          <p:cNvPr id="6" name="Text 3"/>
          <p:cNvSpPr/>
          <p:nvPr/>
        </p:nvSpPr>
        <p:spPr>
          <a:xfrm>
            <a:off x="742950" y="1676400"/>
            <a:ext cx="203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0075" y="4838700"/>
            <a:ext cx="162598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Live · 1 Oct 2026</a:t>
            </a:r>
            <a:endParaRPr lang="en-US" sz="940" dirty="0"/>
          </a:p>
        </p:txBody>
      </p:sp>
      <p:sp>
        <p:nvSpPr>
          <p:cNvPr id="8" name="Text 5"/>
          <p:cNvSpPr/>
          <p:nvPr/>
        </p:nvSpPr>
        <p:spPr>
          <a:xfrm>
            <a:off x="600075" y="5010150"/>
            <a:ext cx="157281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3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clip from a Ninajirachi show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600075" y="5343525"/>
            <a:ext cx="280035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075" y="5400675"/>
            <a:ext cx="3320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3090416" y="5400675"/>
            <a:ext cx="386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4,051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600075" y="5581650"/>
            <a:ext cx="3807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3217664" y="55816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387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600075" y="5734050"/>
            <a:ext cx="6058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3278535" y="5734050"/>
            <a:ext cx="1980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600075" y="5886450"/>
            <a:ext cx="4232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3217664" y="58864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628</a:t>
            </a:r>
            <a:endParaRPr lang="en-US" sz="86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1581150"/>
            <a:ext cx="1466850" cy="317182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648075" y="1657350"/>
            <a:ext cx="260598" cy="171450"/>
          </a:xfrm>
          <a:prstGeom prst="roundRect">
            <a:avLst>
              <a:gd name="adj" fmla="val 22222"/>
            </a:avLst>
          </a:prstGeom>
          <a:solidFill>
            <a:srgbClr val="1A1B1E"/>
          </a:solidFill>
          <a:ln/>
        </p:spPr>
      </p:sp>
      <p:sp>
        <p:nvSpPr>
          <p:cNvPr id="20" name="Text 16"/>
          <p:cNvSpPr/>
          <p:nvPr/>
        </p:nvSpPr>
        <p:spPr>
          <a:xfrm>
            <a:off x="3714750" y="1676400"/>
            <a:ext cx="203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571875" y="4838700"/>
            <a:ext cx="165598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Live · 9 Aug 2026</a:t>
            </a:r>
            <a:endParaRPr lang="en-US" sz="940" dirty="0"/>
          </a:p>
        </p:txBody>
      </p:sp>
      <p:sp>
        <p:nvSpPr>
          <p:cNvPr id="22" name="Text 18"/>
          <p:cNvSpPr/>
          <p:nvPr/>
        </p:nvSpPr>
        <p:spPr>
          <a:xfrm>
            <a:off x="3571875" y="5010150"/>
            <a:ext cx="1384846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3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Ninajirachi plays in China, I’d love a photo with her”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3571875" y="5343525"/>
            <a:ext cx="146685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71875" y="5400675"/>
            <a:ext cx="3320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860" dirty="0"/>
          </a:p>
        </p:txBody>
      </p:sp>
      <p:sp>
        <p:nvSpPr>
          <p:cNvPr id="25" name="Text 21"/>
          <p:cNvSpPr/>
          <p:nvPr/>
        </p:nvSpPr>
        <p:spPr>
          <a:xfrm>
            <a:off x="4728716" y="5400675"/>
            <a:ext cx="386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3,170</a:t>
            </a:r>
            <a:endParaRPr lang="en-US" sz="980" dirty="0"/>
          </a:p>
        </p:txBody>
      </p:sp>
      <p:sp>
        <p:nvSpPr>
          <p:cNvPr id="26" name="Text 22"/>
          <p:cNvSpPr/>
          <p:nvPr/>
        </p:nvSpPr>
        <p:spPr>
          <a:xfrm>
            <a:off x="3571875" y="5581650"/>
            <a:ext cx="3807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60" dirty="0"/>
          </a:p>
        </p:txBody>
      </p:sp>
      <p:sp>
        <p:nvSpPr>
          <p:cNvPr id="27" name="Text 23"/>
          <p:cNvSpPr/>
          <p:nvPr/>
        </p:nvSpPr>
        <p:spPr>
          <a:xfrm>
            <a:off x="4855964" y="55816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860" dirty="0"/>
          </a:p>
        </p:txBody>
      </p:sp>
      <p:sp>
        <p:nvSpPr>
          <p:cNvPr id="28" name="Text 24"/>
          <p:cNvSpPr/>
          <p:nvPr/>
        </p:nvSpPr>
        <p:spPr>
          <a:xfrm>
            <a:off x="3571875" y="5734050"/>
            <a:ext cx="6058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860" dirty="0"/>
          </a:p>
        </p:txBody>
      </p:sp>
      <p:sp>
        <p:nvSpPr>
          <p:cNvPr id="29" name="Text 25"/>
          <p:cNvSpPr/>
          <p:nvPr/>
        </p:nvSpPr>
        <p:spPr>
          <a:xfrm>
            <a:off x="4916835" y="5734050"/>
            <a:ext cx="1980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860" dirty="0"/>
          </a:p>
        </p:txBody>
      </p:sp>
      <p:sp>
        <p:nvSpPr>
          <p:cNvPr id="30" name="Text 26"/>
          <p:cNvSpPr/>
          <p:nvPr/>
        </p:nvSpPr>
        <p:spPr>
          <a:xfrm>
            <a:off x="3571875" y="5886450"/>
            <a:ext cx="4232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4855964" y="58864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502</a:t>
            </a:r>
            <a:endParaRPr lang="en-US" sz="86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175" y="1581150"/>
            <a:ext cx="1466850" cy="3171825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5286375" y="1657350"/>
            <a:ext cx="260598" cy="171450"/>
          </a:xfrm>
          <a:prstGeom prst="roundRect">
            <a:avLst>
              <a:gd name="adj" fmla="val 22222"/>
            </a:avLst>
          </a:prstGeom>
          <a:solidFill>
            <a:srgbClr val="1A1B1E"/>
          </a:solidFill>
          <a:ln/>
        </p:spPr>
      </p:sp>
      <p:sp>
        <p:nvSpPr>
          <p:cNvPr id="34" name="Text 29"/>
          <p:cNvSpPr/>
          <p:nvPr/>
        </p:nvSpPr>
        <p:spPr>
          <a:xfrm>
            <a:off x="5353050" y="1676400"/>
            <a:ext cx="203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210175" y="4838700"/>
            <a:ext cx="99149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OurGen · 12 Apr</a:t>
            </a:r>
            <a:endParaRPr lang="en-US" sz="940" dirty="0"/>
          </a:p>
        </p:txBody>
      </p:sp>
      <p:sp>
        <p:nvSpPr>
          <p:cNvPr id="36" name="Text 31"/>
          <p:cNvSpPr/>
          <p:nvPr/>
        </p:nvSpPr>
        <p:spPr>
          <a:xfrm>
            <a:off x="5210175" y="5010150"/>
            <a:ext cx="1437531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3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girl who built the future of electronic music in her bedroom</a:t>
            </a:r>
            <a:endParaRPr lang="en-US" sz="830" dirty="0"/>
          </a:p>
        </p:txBody>
      </p:sp>
      <p:sp>
        <p:nvSpPr>
          <p:cNvPr id="37" name="Shape 32"/>
          <p:cNvSpPr/>
          <p:nvPr/>
        </p:nvSpPr>
        <p:spPr>
          <a:xfrm>
            <a:off x="5210175" y="5343525"/>
            <a:ext cx="146685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210175" y="5400675"/>
            <a:ext cx="3320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860" dirty="0"/>
          </a:p>
        </p:txBody>
      </p:sp>
      <p:sp>
        <p:nvSpPr>
          <p:cNvPr id="39" name="Text 34"/>
          <p:cNvSpPr/>
          <p:nvPr/>
        </p:nvSpPr>
        <p:spPr>
          <a:xfrm>
            <a:off x="6367016" y="5400675"/>
            <a:ext cx="386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3,133</a:t>
            </a:r>
            <a:endParaRPr lang="en-US" sz="980" dirty="0"/>
          </a:p>
        </p:txBody>
      </p:sp>
      <p:sp>
        <p:nvSpPr>
          <p:cNvPr id="40" name="Text 35"/>
          <p:cNvSpPr/>
          <p:nvPr/>
        </p:nvSpPr>
        <p:spPr>
          <a:xfrm>
            <a:off x="5210175" y="5581650"/>
            <a:ext cx="3807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60" dirty="0"/>
          </a:p>
        </p:txBody>
      </p:sp>
      <p:sp>
        <p:nvSpPr>
          <p:cNvPr id="41" name="Text 36"/>
          <p:cNvSpPr/>
          <p:nvPr/>
        </p:nvSpPr>
        <p:spPr>
          <a:xfrm>
            <a:off x="6494264" y="55816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538</a:t>
            </a:r>
            <a:endParaRPr lang="en-US" sz="860" dirty="0"/>
          </a:p>
        </p:txBody>
      </p:sp>
      <p:sp>
        <p:nvSpPr>
          <p:cNvPr id="42" name="Text 37"/>
          <p:cNvSpPr/>
          <p:nvPr/>
        </p:nvSpPr>
        <p:spPr>
          <a:xfrm>
            <a:off x="5210175" y="5734050"/>
            <a:ext cx="6058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860" dirty="0"/>
          </a:p>
        </p:txBody>
      </p:sp>
      <p:sp>
        <p:nvSpPr>
          <p:cNvPr id="43" name="Text 38"/>
          <p:cNvSpPr/>
          <p:nvPr/>
        </p:nvSpPr>
        <p:spPr>
          <a:xfrm>
            <a:off x="6555135" y="5734050"/>
            <a:ext cx="1980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860" dirty="0"/>
          </a:p>
        </p:txBody>
      </p:sp>
      <p:sp>
        <p:nvSpPr>
          <p:cNvPr id="44" name="Text 39"/>
          <p:cNvSpPr/>
          <p:nvPr/>
        </p:nvSpPr>
        <p:spPr>
          <a:xfrm>
            <a:off x="5210175" y="5886450"/>
            <a:ext cx="4232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860" dirty="0"/>
          </a:p>
        </p:txBody>
      </p:sp>
      <p:sp>
        <p:nvSpPr>
          <p:cNvPr id="45" name="Text 40"/>
          <p:cNvSpPr/>
          <p:nvPr/>
        </p:nvSpPr>
        <p:spPr>
          <a:xfrm>
            <a:off x="6494264" y="58864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86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475" y="1581150"/>
            <a:ext cx="1466850" cy="3171825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6924675" y="1657350"/>
            <a:ext cx="260598" cy="171450"/>
          </a:xfrm>
          <a:prstGeom prst="roundRect">
            <a:avLst>
              <a:gd name="adj" fmla="val 22222"/>
            </a:avLst>
          </a:prstGeom>
          <a:solidFill>
            <a:srgbClr val="1A1B1E"/>
          </a:solidFill>
          <a:ln/>
        </p:spPr>
      </p:sp>
      <p:sp>
        <p:nvSpPr>
          <p:cNvPr id="48" name="Text 42"/>
          <p:cNvSpPr/>
          <p:nvPr/>
        </p:nvSpPr>
        <p:spPr>
          <a:xfrm>
            <a:off x="6991350" y="1676400"/>
            <a:ext cx="203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6848475" y="4838700"/>
            <a:ext cx="161879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Sheep EDM · 2 Sep</a:t>
            </a:r>
            <a:endParaRPr lang="en-US" sz="940" dirty="0"/>
          </a:p>
        </p:txBody>
      </p:sp>
      <p:sp>
        <p:nvSpPr>
          <p:cNvPr id="50" name="Text 44"/>
          <p:cNvSpPr/>
          <p:nvPr/>
        </p:nvSpPr>
        <p:spPr>
          <a:xfrm>
            <a:off x="6848475" y="5010150"/>
            <a:ext cx="1256854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3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series, Ep. 7: Ninajirachi on staying real</a:t>
            </a:r>
            <a:endParaRPr lang="en-US" sz="830" dirty="0"/>
          </a:p>
        </p:txBody>
      </p:sp>
      <p:sp>
        <p:nvSpPr>
          <p:cNvPr id="51" name="Shape 45"/>
          <p:cNvSpPr/>
          <p:nvPr/>
        </p:nvSpPr>
        <p:spPr>
          <a:xfrm>
            <a:off x="6848475" y="5343525"/>
            <a:ext cx="146685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848475" y="5400675"/>
            <a:ext cx="3320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860" dirty="0"/>
          </a:p>
        </p:txBody>
      </p:sp>
      <p:sp>
        <p:nvSpPr>
          <p:cNvPr id="53" name="Text 47"/>
          <p:cNvSpPr/>
          <p:nvPr/>
        </p:nvSpPr>
        <p:spPr>
          <a:xfrm>
            <a:off x="8005316" y="5400675"/>
            <a:ext cx="386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2,162</a:t>
            </a:r>
            <a:endParaRPr lang="en-US" sz="980" dirty="0"/>
          </a:p>
        </p:txBody>
      </p:sp>
      <p:sp>
        <p:nvSpPr>
          <p:cNvPr id="54" name="Text 48"/>
          <p:cNvSpPr/>
          <p:nvPr/>
        </p:nvSpPr>
        <p:spPr>
          <a:xfrm>
            <a:off x="6848475" y="5581650"/>
            <a:ext cx="3807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60" dirty="0"/>
          </a:p>
        </p:txBody>
      </p:sp>
      <p:sp>
        <p:nvSpPr>
          <p:cNvPr id="55" name="Text 49"/>
          <p:cNvSpPr/>
          <p:nvPr/>
        </p:nvSpPr>
        <p:spPr>
          <a:xfrm>
            <a:off x="8132564" y="55816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</a:t>
            </a:r>
            <a:endParaRPr lang="en-US" sz="860" dirty="0"/>
          </a:p>
        </p:txBody>
      </p:sp>
      <p:sp>
        <p:nvSpPr>
          <p:cNvPr id="56" name="Text 50"/>
          <p:cNvSpPr/>
          <p:nvPr/>
        </p:nvSpPr>
        <p:spPr>
          <a:xfrm>
            <a:off x="6848475" y="5734050"/>
            <a:ext cx="6058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860" dirty="0"/>
          </a:p>
        </p:txBody>
      </p:sp>
      <p:sp>
        <p:nvSpPr>
          <p:cNvPr id="57" name="Text 51"/>
          <p:cNvSpPr/>
          <p:nvPr/>
        </p:nvSpPr>
        <p:spPr>
          <a:xfrm>
            <a:off x="8193435" y="5734050"/>
            <a:ext cx="1980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860" dirty="0"/>
          </a:p>
        </p:txBody>
      </p:sp>
      <p:sp>
        <p:nvSpPr>
          <p:cNvPr id="58" name="Text 52"/>
          <p:cNvSpPr/>
          <p:nvPr/>
        </p:nvSpPr>
        <p:spPr>
          <a:xfrm>
            <a:off x="6848475" y="5886450"/>
            <a:ext cx="4232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860" dirty="0"/>
          </a:p>
        </p:txBody>
      </p:sp>
      <p:sp>
        <p:nvSpPr>
          <p:cNvPr id="59" name="Text 53"/>
          <p:cNvSpPr/>
          <p:nvPr/>
        </p:nvSpPr>
        <p:spPr>
          <a:xfrm>
            <a:off x="8132564" y="58864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286</a:t>
            </a:r>
            <a:endParaRPr lang="en-US" sz="860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775" y="1581150"/>
            <a:ext cx="1466850" cy="3171825"/>
          </a:xfrm>
          <a:prstGeom prst="rect">
            <a:avLst/>
          </a:prstGeom>
        </p:spPr>
      </p:pic>
      <p:sp>
        <p:nvSpPr>
          <p:cNvPr id="61" name="Shape 54"/>
          <p:cNvSpPr/>
          <p:nvPr/>
        </p:nvSpPr>
        <p:spPr>
          <a:xfrm>
            <a:off x="8562975" y="1657350"/>
            <a:ext cx="260598" cy="171450"/>
          </a:xfrm>
          <a:prstGeom prst="roundRect">
            <a:avLst>
              <a:gd name="adj" fmla="val 22222"/>
            </a:avLst>
          </a:prstGeom>
          <a:solidFill>
            <a:srgbClr val="1A1B1E"/>
          </a:solidFill>
          <a:ln/>
        </p:spPr>
      </p:sp>
      <p:sp>
        <p:nvSpPr>
          <p:cNvPr id="62" name="Text 55"/>
          <p:cNvSpPr/>
          <p:nvPr/>
        </p:nvSpPr>
        <p:spPr>
          <a:xfrm>
            <a:off x="8629650" y="1676400"/>
            <a:ext cx="203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8486775" y="4838700"/>
            <a:ext cx="112156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Loopspace · 2 Feb</a:t>
            </a:r>
            <a:endParaRPr lang="en-US" sz="940" dirty="0"/>
          </a:p>
        </p:txBody>
      </p:sp>
      <p:sp>
        <p:nvSpPr>
          <p:cNvPr id="64" name="Text 57"/>
          <p:cNvSpPr/>
          <p:nvPr/>
        </p:nvSpPr>
        <p:spPr>
          <a:xfrm>
            <a:off x="8486775" y="5010150"/>
            <a:ext cx="1402407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3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“Meet a producer every day”, Ep. 1: Ninajirachi</a:t>
            </a:r>
            <a:endParaRPr lang="en-US" sz="830" dirty="0"/>
          </a:p>
        </p:txBody>
      </p:sp>
      <p:sp>
        <p:nvSpPr>
          <p:cNvPr id="65" name="Shape 58"/>
          <p:cNvSpPr/>
          <p:nvPr/>
        </p:nvSpPr>
        <p:spPr>
          <a:xfrm>
            <a:off x="8486775" y="5343525"/>
            <a:ext cx="146685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8486775" y="5400675"/>
            <a:ext cx="3320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860" dirty="0"/>
          </a:p>
        </p:txBody>
      </p:sp>
      <p:sp>
        <p:nvSpPr>
          <p:cNvPr id="67" name="Text 60"/>
          <p:cNvSpPr/>
          <p:nvPr/>
        </p:nvSpPr>
        <p:spPr>
          <a:xfrm>
            <a:off x="9643616" y="5400675"/>
            <a:ext cx="386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2,064</a:t>
            </a:r>
            <a:endParaRPr lang="en-US" sz="980" dirty="0"/>
          </a:p>
        </p:txBody>
      </p:sp>
      <p:sp>
        <p:nvSpPr>
          <p:cNvPr id="68" name="Text 61"/>
          <p:cNvSpPr/>
          <p:nvPr/>
        </p:nvSpPr>
        <p:spPr>
          <a:xfrm>
            <a:off x="8486775" y="5581650"/>
            <a:ext cx="3807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60" dirty="0"/>
          </a:p>
        </p:txBody>
      </p:sp>
      <p:sp>
        <p:nvSpPr>
          <p:cNvPr id="69" name="Text 62"/>
          <p:cNvSpPr/>
          <p:nvPr/>
        </p:nvSpPr>
        <p:spPr>
          <a:xfrm>
            <a:off x="9770864" y="55816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381</a:t>
            </a:r>
            <a:endParaRPr lang="en-US" sz="860" dirty="0"/>
          </a:p>
        </p:txBody>
      </p:sp>
      <p:sp>
        <p:nvSpPr>
          <p:cNvPr id="70" name="Text 63"/>
          <p:cNvSpPr/>
          <p:nvPr/>
        </p:nvSpPr>
        <p:spPr>
          <a:xfrm>
            <a:off x="8486775" y="5734050"/>
            <a:ext cx="6058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860" dirty="0"/>
          </a:p>
        </p:txBody>
      </p:sp>
      <p:sp>
        <p:nvSpPr>
          <p:cNvPr id="71" name="Text 64"/>
          <p:cNvSpPr/>
          <p:nvPr/>
        </p:nvSpPr>
        <p:spPr>
          <a:xfrm>
            <a:off x="9831735" y="5734050"/>
            <a:ext cx="1980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860" dirty="0"/>
          </a:p>
        </p:txBody>
      </p:sp>
      <p:sp>
        <p:nvSpPr>
          <p:cNvPr id="72" name="Text 65"/>
          <p:cNvSpPr/>
          <p:nvPr/>
        </p:nvSpPr>
        <p:spPr>
          <a:xfrm>
            <a:off x="8486775" y="5886450"/>
            <a:ext cx="4232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860" dirty="0"/>
          </a:p>
        </p:txBody>
      </p:sp>
      <p:sp>
        <p:nvSpPr>
          <p:cNvPr id="73" name="Text 66"/>
          <p:cNvSpPr/>
          <p:nvPr/>
        </p:nvSpPr>
        <p:spPr>
          <a:xfrm>
            <a:off x="9770864" y="58864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</a:t>
            </a:r>
            <a:endParaRPr lang="en-US" sz="860" dirty="0"/>
          </a:p>
        </p:txBody>
      </p:sp>
      <p:pic>
        <p:nvPicPr>
          <p:cNvPr id="7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5075" y="1581150"/>
            <a:ext cx="1466850" cy="3171825"/>
          </a:xfrm>
          <a:prstGeom prst="rect">
            <a:avLst/>
          </a:prstGeom>
        </p:spPr>
      </p:pic>
      <p:sp>
        <p:nvSpPr>
          <p:cNvPr id="75" name="Shape 67"/>
          <p:cNvSpPr/>
          <p:nvPr/>
        </p:nvSpPr>
        <p:spPr>
          <a:xfrm>
            <a:off x="10201275" y="1657350"/>
            <a:ext cx="260598" cy="171450"/>
          </a:xfrm>
          <a:prstGeom prst="roundRect">
            <a:avLst>
              <a:gd name="adj" fmla="val 22222"/>
            </a:avLst>
          </a:prstGeom>
          <a:solidFill>
            <a:srgbClr val="1A1B1E"/>
          </a:solidFill>
          <a:ln/>
        </p:spPr>
      </p:sp>
      <p:sp>
        <p:nvSpPr>
          <p:cNvPr id="76" name="Text 68"/>
          <p:cNvSpPr/>
          <p:nvPr/>
        </p:nvSpPr>
        <p:spPr>
          <a:xfrm>
            <a:off x="10267950" y="1676400"/>
            <a:ext cx="203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900" dirty="0"/>
          </a:p>
        </p:txBody>
      </p:sp>
      <p:sp>
        <p:nvSpPr>
          <p:cNvPr id="77" name="Text 69"/>
          <p:cNvSpPr/>
          <p:nvPr/>
        </p:nvSpPr>
        <p:spPr>
          <a:xfrm>
            <a:off x="10125075" y="4838700"/>
            <a:ext cx="172552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Live · 24 Aug 2026</a:t>
            </a:r>
            <a:endParaRPr lang="en-US" sz="940" dirty="0"/>
          </a:p>
        </p:txBody>
      </p:sp>
      <p:sp>
        <p:nvSpPr>
          <p:cNvPr id="78" name="Text 70"/>
          <p:cNvSpPr/>
          <p:nvPr/>
        </p:nvSpPr>
        <p:spPr>
          <a:xfrm>
            <a:off x="10125075" y="5010150"/>
            <a:ext cx="1409849" cy="25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83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WannaCry live — “Will lots of DJs remix it?”</a:t>
            </a:r>
            <a:endParaRPr lang="en-US" sz="830" dirty="0"/>
          </a:p>
        </p:txBody>
      </p:sp>
      <p:sp>
        <p:nvSpPr>
          <p:cNvPr id="79" name="Shape 71"/>
          <p:cNvSpPr/>
          <p:nvPr/>
        </p:nvSpPr>
        <p:spPr>
          <a:xfrm>
            <a:off x="10125075" y="5343525"/>
            <a:ext cx="1466850" cy="0"/>
          </a:xfrm>
          <a:prstGeom prst="line">
            <a:avLst/>
          </a:prstGeom>
          <a:noFill/>
          <a:ln w="9525">
            <a:solidFill>
              <a:srgbClr val="DCDAD1"/>
            </a:solidFill>
            <a:prstDash val="solid"/>
          </a:ln>
        </p:spPr>
      </p:sp>
      <p:sp>
        <p:nvSpPr>
          <p:cNvPr id="80" name="Text 72"/>
          <p:cNvSpPr/>
          <p:nvPr/>
        </p:nvSpPr>
        <p:spPr>
          <a:xfrm>
            <a:off x="10125075" y="5400675"/>
            <a:ext cx="3320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</a:t>
            </a:r>
            <a:endParaRPr lang="en-US" sz="860" dirty="0"/>
          </a:p>
        </p:txBody>
      </p:sp>
      <p:sp>
        <p:nvSpPr>
          <p:cNvPr id="81" name="Text 73"/>
          <p:cNvSpPr/>
          <p:nvPr/>
        </p:nvSpPr>
        <p:spPr>
          <a:xfrm>
            <a:off x="11281916" y="5400675"/>
            <a:ext cx="3862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80" b="1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1,121</a:t>
            </a:r>
            <a:endParaRPr lang="en-US" sz="980" dirty="0"/>
          </a:p>
        </p:txBody>
      </p:sp>
      <p:sp>
        <p:nvSpPr>
          <p:cNvPr id="82" name="Text 74"/>
          <p:cNvSpPr/>
          <p:nvPr/>
        </p:nvSpPr>
        <p:spPr>
          <a:xfrm>
            <a:off x="10125075" y="5581650"/>
            <a:ext cx="38070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</a:t>
            </a:r>
            <a:endParaRPr lang="en-US" sz="860" dirty="0"/>
          </a:p>
        </p:txBody>
      </p:sp>
      <p:sp>
        <p:nvSpPr>
          <p:cNvPr id="83" name="Text 75"/>
          <p:cNvSpPr/>
          <p:nvPr/>
        </p:nvSpPr>
        <p:spPr>
          <a:xfrm>
            <a:off x="11409164" y="55816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860" dirty="0"/>
          </a:p>
        </p:txBody>
      </p:sp>
      <p:sp>
        <p:nvSpPr>
          <p:cNvPr id="84" name="Text 76"/>
          <p:cNvSpPr/>
          <p:nvPr/>
        </p:nvSpPr>
        <p:spPr>
          <a:xfrm>
            <a:off x="10125075" y="5734050"/>
            <a:ext cx="6058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860" dirty="0"/>
          </a:p>
        </p:txBody>
      </p:sp>
      <p:sp>
        <p:nvSpPr>
          <p:cNvPr id="85" name="Text 77"/>
          <p:cNvSpPr/>
          <p:nvPr/>
        </p:nvSpPr>
        <p:spPr>
          <a:xfrm>
            <a:off x="11470035" y="5734050"/>
            <a:ext cx="1980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60" dirty="0"/>
          </a:p>
        </p:txBody>
      </p:sp>
      <p:sp>
        <p:nvSpPr>
          <p:cNvPr id="86" name="Text 78"/>
          <p:cNvSpPr/>
          <p:nvPr/>
        </p:nvSpPr>
        <p:spPr>
          <a:xfrm>
            <a:off x="10125075" y="5886450"/>
            <a:ext cx="4232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860" dirty="0"/>
          </a:p>
        </p:txBody>
      </p:sp>
      <p:sp>
        <p:nvSpPr>
          <p:cNvPr id="87" name="Text 79"/>
          <p:cNvSpPr/>
          <p:nvPr/>
        </p:nvSpPr>
        <p:spPr>
          <a:xfrm>
            <a:off x="11409164" y="5886450"/>
            <a:ext cx="25896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</a:t>
            </a:r>
            <a:endParaRPr lang="en-US" sz="860" dirty="0"/>
          </a:p>
        </p:txBody>
      </p:sp>
      <p:sp>
        <p:nvSpPr>
          <p:cNvPr id="88" name="Text 80"/>
          <p:cNvSpPr/>
          <p:nvPr/>
        </p:nvSpPr>
        <p:spPr>
          <a:xfrm>
            <a:off x="2905132" y="6229350"/>
            <a:ext cx="638173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posts from Vision Electronic, Musikorama, Orynx Audio Recs and other music accounts add 140–750 likes each.</a:t>
            </a:r>
            <a:endParaRPr lang="en-US" sz="900" dirty="0"/>
          </a:p>
        </p:txBody>
      </p:sp>
      <p:pic>
        <p:nvPicPr>
          <p:cNvPr id="8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6549033"/>
            <a:ext cx="142875" cy="118467"/>
          </a:xfrm>
          <a:prstGeom prst="rect">
            <a:avLst/>
          </a:prstGeom>
        </p:spPr>
      </p:pic>
      <p:sp>
        <p:nvSpPr>
          <p:cNvPr id="90" name="Text 81"/>
          <p:cNvSpPr/>
          <p:nvPr/>
        </p:nvSpPr>
        <p:spPr>
          <a:xfrm>
            <a:off x="847725" y="6551116"/>
            <a:ext cx="35693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 · CHINA MARKET POTENTIAL REPORT</a:t>
            </a:r>
            <a:endParaRPr lang="en-US" sz="790" dirty="0"/>
          </a:p>
        </p:txBody>
      </p:sp>
      <p:sp>
        <p:nvSpPr>
          <p:cNvPr id="91" name="Text 82"/>
          <p:cNvSpPr/>
          <p:nvPr/>
        </p:nvSpPr>
        <p:spPr>
          <a:xfrm>
            <a:off x="11431042" y="6551116"/>
            <a:ext cx="2275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315570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E22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BILIBILI (CHINA'S YOUTUBE)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609600" y="714375"/>
            <a:ext cx="3771007" cy="77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700" b="1" spc="-30" kern="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top search result clears 10K plays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634728"/>
            <a:ext cx="4414838" cy="87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“ninajirachi” returns </a:t>
            </a:r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1B1B1D"/>
                </a:solidFill>
                <a:highlight>
                  <a:srgbClr val="E0F26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99+ videos</a:t>
            </a:r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6B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Sorted by plays, all of the top 10 are above 10,000 — 275K plays combined — from reaction videos and DJ mixes to a full Chinese translation of I Love My Computer.</a:t>
            </a:r>
            <a:endParaRPr lang="en-US" sz="1160" dirty="0"/>
          </a:p>
        </p:txBody>
      </p:sp>
      <p:sp>
        <p:nvSpPr>
          <p:cNvPr id="5" name="Text 3"/>
          <p:cNvSpPr/>
          <p:nvPr/>
        </p:nvSpPr>
        <p:spPr>
          <a:xfrm>
            <a:off x="609600" y="2727127"/>
            <a:ext cx="22146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reaction — Kobaryo, Ninajirachi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95600" y="272236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7" name="Shape 5"/>
          <p:cNvSpPr/>
          <p:nvPr/>
        </p:nvSpPr>
        <p:spPr>
          <a:xfrm>
            <a:off x="2895600" y="2722364"/>
            <a:ext cx="1714500" cy="152400"/>
          </a:xfrm>
          <a:prstGeom prst="rect">
            <a:avLst/>
          </a:prstGeom>
          <a:solidFill>
            <a:srgbClr val="E2297C"/>
          </a:solidFill>
          <a:ln/>
        </p:spPr>
      </p:sp>
      <p:sp>
        <p:nvSpPr>
          <p:cNvPr id="8" name="Text 6"/>
          <p:cNvSpPr/>
          <p:nvPr/>
        </p:nvSpPr>
        <p:spPr>
          <a:xfrm>
            <a:off x="4791670" y="273188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88K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09600" y="2936677"/>
            <a:ext cx="2601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WannaCry visualiser — Porter Robinson (official)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95600" y="293191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11" name="Shape 9"/>
          <p:cNvSpPr/>
          <p:nvPr/>
        </p:nvSpPr>
        <p:spPr>
          <a:xfrm>
            <a:off x="2895600" y="2931914"/>
            <a:ext cx="915442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670" y="294143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47K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609600" y="3146227"/>
            <a:ext cx="237467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Love My Computer — full-album translation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95600" y="314146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15" name="Shape 13"/>
          <p:cNvSpPr/>
          <p:nvPr/>
        </p:nvSpPr>
        <p:spPr>
          <a:xfrm>
            <a:off x="2895600" y="3141464"/>
            <a:ext cx="545157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16" name="Text 14"/>
          <p:cNvSpPr/>
          <p:nvPr/>
        </p:nvSpPr>
        <p:spPr>
          <a:xfrm>
            <a:off x="4791670" y="315098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28K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609600" y="3355777"/>
            <a:ext cx="91901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iPod Touch (MV)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95600" y="335101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19" name="Shape 17"/>
          <p:cNvSpPr/>
          <p:nvPr/>
        </p:nvSpPr>
        <p:spPr>
          <a:xfrm>
            <a:off x="2895600" y="3351014"/>
            <a:ext cx="428625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670" y="336053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22K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609600" y="3565327"/>
            <a:ext cx="225012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BiBi official MV — Billionhappy, Ninajirachi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95600" y="356056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23" name="Shape 21"/>
          <p:cNvSpPr/>
          <p:nvPr/>
        </p:nvSpPr>
        <p:spPr>
          <a:xfrm>
            <a:off x="2895600" y="3560564"/>
            <a:ext cx="370284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670" y="357008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19K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09600" y="3774877"/>
            <a:ext cx="183444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Infohazard — Forza Horizon 6 edit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95600" y="377011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27" name="Shape 25"/>
          <p:cNvSpPr/>
          <p:nvPr/>
        </p:nvSpPr>
        <p:spPr>
          <a:xfrm>
            <a:off x="2895600" y="3770114"/>
            <a:ext cx="351383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28" name="Text 26"/>
          <p:cNvSpPr/>
          <p:nvPr/>
        </p:nvSpPr>
        <p:spPr>
          <a:xfrm>
            <a:off x="4791670" y="377963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18K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609600" y="3984427"/>
            <a:ext cx="120089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 unboxing clip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95600" y="397966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31" name="Shape 29"/>
          <p:cNvSpPr/>
          <p:nvPr/>
        </p:nvSpPr>
        <p:spPr>
          <a:xfrm>
            <a:off x="2895600" y="3979664"/>
            <a:ext cx="291405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670" y="398918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15K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609600" y="4193977"/>
            <a:ext cx="2687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 &amp; hyperpop DJ mix (Charli xcx, A.G. Cook…)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95600" y="418921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35" name="Shape 33"/>
          <p:cNvSpPr/>
          <p:nvPr/>
        </p:nvSpPr>
        <p:spPr>
          <a:xfrm>
            <a:off x="2895600" y="4189214"/>
            <a:ext cx="272504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36" name="Text 34"/>
          <p:cNvSpPr/>
          <p:nvPr/>
        </p:nvSpPr>
        <p:spPr>
          <a:xfrm>
            <a:off x="4791670" y="419873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14K</a:t>
            </a:r>
            <a:endParaRPr lang="en-US" sz="940" dirty="0"/>
          </a:p>
        </p:txBody>
      </p:sp>
      <p:sp>
        <p:nvSpPr>
          <p:cNvPr id="37" name="Text 35"/>
          <p:cNvSpPr/>
          <p:nvPr/>
        </p:nvSpPr>
        <p:spPr>
          <a:xfrm>
            <a:off x="609600" y="4403527"/>
            <a:ext cx="19361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Mashup: I Choose You × iPod Touch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95600" y="439876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39" name="Shape 37"/>
          <p:cNvSpPr/>
          <p:nvPr/>
        </p:nvSpPr>
        <p:spPr>
          <a:xfrm>
            <a:off x="2895600" y="4398764"/>
            <a:ext cx="233065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0" name="Text 38"/>
          <p:cNvSpPr/>
          <p:nvPr/>
        </p:nvSpPr>
        <p:spPr>
          <a:xfrm>
            <a:off x="4791670" y="440828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609600" y="4613077"/>
            <a:ext cx="130879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 Robinson live clip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95600" y="4608314"/>
            <a:ext cx="1714500" cy="152400"/>
          </a:xfrm>
          <a:prstGeom prst="rect">
            <a:avLst/>
          </a:prstGeom>
          <a:solidFill>
            <a:srgbClr val="ECEBE4"/>
          </a:solidFill>
          <a:ln/>
        </p:spPr>
      </p:sp>
      <p:sp>
        <p:nvSpPr>
          <p:cNvPr id="43" name="Shape 41"/>
          <p:cNvSpPr/>
          <p:nvPr/>
        </p:nvSpPr>
        <p:spPr>
          <a:xfrm>
            <a:off x="2895600" y="4608314"/>
            <a:ext cx="233065" cy="152400"/>
          </a:xfrm>
          <a:prstGeom prst="rect">
            <a:avLst/>
          </a:prstGeom>
          <a:solidFill>
            <a:srgbClr val="1A1B1E"/>
          </a:solidFill>
          <a:ln/>
        </p:spPr>
      </p:sp>
      <p:sp>
        <p:nvSpPr>
          <p:cNvPr id="44" name="Text 42"/>
          <p:cNvSpPr/>
          <p:nvPr/>
        </p:nvSpPr>
        <p:spPr>
          <a:xfrm>
            <a:off x="4791670" y="4617839"/>
            <a:ext cx="29468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30"/>
              </a:lnSpc>
              <a:buNone/>
            </a:pPr>
            <a:r>
              <a:rPr lang="en-US" sz="940" b="1" dirty="0">
                <a:solidFill>
                  <a:srgbClr val="1B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940" dirty="0"/>
          </a:p>
        </p:txBody>
      </p:sp>
      <p:sp>
        <p:nvSpPr>
          <p:cNvPr id="45" name="Text 43"/>
          <p:cNvSpPr/>
          <p:nvPr/>
        </p:nvSpPr>
        <p:spPr>
          <a:xfrm>
            <a:off x="609600" y="4836914"/>
            <a:ext cx="29538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3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as shown on Bilibili (rounded to the nearest thousand).</a:t>
            </a:r>
            <a:endParaRPr lang="en-US" sz="83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0" y="1895475"/>
            <a:ext cx="6191250" cy="3028950"/>
          </a:xfrm>
          <a:prstGeom prst="rect">
            <a:avLst/>
          </a:prstGeom>
        </p:spPr>
      </p:pic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49033"/>
            <a:ext cx="142875" cy="118467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847725" y="6551116"/>
            <a:ext cx="35693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 · CHINA MARKET POTENTIAL REPORT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11431042" y="6551116"/>
            <a:ext cx="2275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9B9A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95300"/>
            <a:ext cx="29666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CHINA MARKET POTENTIAL</a:t>
            </a:r>
            <a:endParaRPr lang="en-US" sz="940" dirty="0"/>
          </a:p>
        </p:txBody>
      </p:sp>
      <p:sp>
        <p:nvSpPr>
          <p:cNvPr id="3" name="Text 1"/>
          <p:cNvSpPr/>
          <p:nvPr/>
        </p:nvSpPr>
        <p:spPr>
          <a:xfrm>
            <a:off x="609600" y="714375"/>
            <a:ext cx="5153025" cy="774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700" b="1" spc="-30" kern="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demand is here. It needs an official home.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634728"/>
            <a:ext cx="5577334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60" dirty="0">
                <a:solidFill>
                  <a:srgbClr val="B4B4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Fans are already asking for a China show, and the traffic is real. Right now it flows to fan pages and media accounts; official accounts would capture it and show promoters what Ninajirachi can draw.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609600" y="2505224"/>
            <a:ext cx="0" cy="471488"/>
          </a:xfrm>
          <a:prstGeom prst="line">
            <a:avLst/>
          </a:prstGeom>
          <a:noFill/>
          <a:ln w="28575">
            <a:solidFill>
              <a:srgbClr val="D6EF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1525" y="2790974"/>
            <a:ext cx="39675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two tracks, nine tracks above 10K saves on NetEase Cloud Music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771525" y="2524274"/>
            <a:ext cx="13404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saves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09600" y="3091011"/>
            <a:ext cx="0" cy="471488"/>
          </a:xfrm>
          <a:prstGeom prst="line">
            <a:avLst/>
          </a:prstGeom>
          <a:noFill/>
          <a:ln w="28575">
            <a:solidFill>
              <a:srgbClr val="D6EF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525" y="3376761"/>
            <a:ext cx="24571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#ninajirachi across 473 Douyin creators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1525" y="3110061"/>
            <a:ext cx="128766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1.91M views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09600" y="3676799"/>
            <a:ext cx="0" cy="471488"/>
          </a:xfrm>
          <a:prstGeom prst="line">
            <a:avLst/>
          </a:prstGeom>
          <a:noFill/>
          <a:ln w="28575">
            <a:solidFill>
              <a:srgbClr val="D6E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25" y="3962549"/>
            <a:ext cx="27970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80" dirty="0">
                <a:solidFill>
                  <a:srgbClr val="CFCF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top 10 Bilibili results, each above 10K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71525" y="3695849"/>
            <a:ext cx="117127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275K plays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09600" y="4338786"/>
            <a:ext cx="5562600" cy="866775"/>
          </a:xfrm>
          <a:prstGeom prst="roundRect">
            <a:avLst>
              <a:gd name="adj" fmla="val 10989"/>
            </a:avLst>
          </a:prstGeom>
          <a:solidFill>
            <a:srgbClr val="2627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4538811"/>
            <a:ext cx="52490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Ninajirachi plays in China, I'd love a photo with her.”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625" y="4872186"/>
            <a:ext cx="296224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9A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Douyin post by Electronic Live, 9 Aug 2026 · 3,170 likes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495300"/>
            <a:ext cx="264501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40" b="1" spc="280" kern="0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629400" y="762000"/>
            <a:ext cx="4953000" cy="833438"/>
          </a:xfrm>
          <a:prstGeom prst="roundRect">
            <a:avLst>
              <a:gd name="adj" fmla="val 10286"/>
            </a:avLst>
          </a:prstGeom>
          <a:solidFill>
            <a:srgbClr val="262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781800" y="93345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0F264"/>
          </a:solidFill>
          <a:ln/>
        </p:spPr>
      </p:sp>
      <p:sp>
        <p:nvSpPr>
          <p:cNvPr id="20" name="Text 18"/>
          <p:cNvSpPr/>
          <p:nvPr/>
        </p:nvSpPr>
        <p:spPr>
          <a:xfrm>
            <a:off x="6877943" y="985838"/>
            <a:ext cx="15046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39000" y="895350"/>
            <a:ext cx="171615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official accounts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39000" y="1123950"/>
            <a:ext cx="3941862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dirty="0">
                <a:solidFill>
                  <a:srgbClr val="B9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Douyin, Bilibili and a verified NetEase Cloud Music artist page, so existing traffic lands on Ninajirachi's own channels.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629400" y="1709738"/>
            <a:ext cx="4953000" cy="654844"/>
          </a:xfrm>
          <a:prstGeom prst="roundRect">
            <a:avLst>
              <a:gd name="adj" fmla="val 13091"/>
            </a:avLst>
          </a:prstGeom>
          <a:solidFill>
            <a:srgbClr val="262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781800" y="1881187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0F264"/>
          </a:solidFill>
          <a:ln/>
        </p:spPr>
      </p:sp>
      <p:sp>
        <p:nvSpPr>
          <p:cNvPr id="25" name="Text 23"/>
          <p:cNvSpPr/>
          <p:nvPr/>
        </p:nvSpPr>
        <p:spPr>
          <a:xfrm>
            <a:off x="6877943" y="1933575"/>
            <a:ext cx="15046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39000" y="1843088"/>
            <a:ext cx="183163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them local content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39000" y="2071688"/>
            <a:ext cx="42738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dirty="0">
                <a:solidFill>
                  <a:srgbClr val="B9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Chinese-subtitled live clips, studio snippets and a short hello to Chinese fans.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629400" y="2478881"/>
            <a:ext cx="4953000" cy="654844"/>
          </a:xfrm>
          <a:prstGeom prst="roundRect">
            <a:avLst>
              <a:gd name="adj" fmla="val 13091"/>
            </a:avLst>
          </a:prstGeom>
          <a:solidFill>
            <a:srgbClr val="262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781800" y="2650331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0F264"/>
          </a:solidFill>
          <a:ln/>
        </p:spPr>
      </p:sp>
      <p:sp>
        <p:nvSpPr>
          <p:cNvPr id="30" name="Text 28"/>
          <p:cNvSpPr/>
          <p:nvPr/>
        </p:nvSpPr>
        <p:spPr>
          <a:xfrm>
            <a:off x="6877943" y="2702719"/>
            <a:ext cx="15046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39000" y="2612231"/>
            <a:ext cx="226731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promoters the numbers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39000" y="2840831"/>
            <a:ext cx="433616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dirty="0">
                <a:solidFill>
                  <a:srgbClr val="B9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this data and follower growth with Chinese festivals and club promoters.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6629400" y="3248025"/>
            <a:ext cx="4953000" cy="654844"/>
          </a:xfrm>
          <a:prstGeom prst="roundRect">
            <a:avLst>
              <a:gd name="adj" fmla="val 13091"/>
            </a:avLst>
          </a:prstGeom>
          <a:solidFill>
            <a:srgbClr val="262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6781800" y="341947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0F264"/>
          </a:solidFill>
          <a:ln/>
        </p:spPr>
      </p:sp>
      <p:sp>
        <p:nvSpPr>
          <p:cNvPr id="35" name="Text 33"/>
          <p:cNvSpPr/>
          <p:nvPr/>
        </p:nvSpPr>
        <p:spPr>
          <a:xfrm>
            <a:off x="6877943" y="3471863"/>
            <a:ext cx="150465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39000" y="3381375"/>
            <a:ext cx="18017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demand into dates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39000" y="3609975"/>
            <a:ext cx="39469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40" dirty="0">
                <a:solidFill>
                  <a:srgbClr val="B9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promoter interest into a first China club tour or festival booking.</a:t>
            </a:r>
            <a:endParaRPr lang="en-US" sz="94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549033"/>
            <a:ext cx="142875" cy="118467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847725" y="6551116"/>
            <a:ext cx="356935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77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 · CHINA MARKET POTENTIAL REPORT</a:t>
            </a:r>
            <a:endParaRPr lang="en-US" sz="790" dirty="0"/>
          </a:p>
        </p:txBody>
      </p:sp>
      <p:sp>
        <p:nvSpPr>
          <p:cNvPr id="40" name="Text 37"/>
          <p:cNvSpPr/>
          <p:nvPr/>
        </p:nvSpPr>
        <p:spPr>
          <a:xfrm>
            <a:off x="11431042" y="6551116"/>
            <a:ext cx="22755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b="1" spc="160" kern="0" dirty="0">
                <a:solidFill>
                  <a:srgbClr val="777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5" y="0"/>
            <a:ext cx="679132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581275"/>
            <a:ext cx="4065352" cy="895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300" b="1" spc="-130" kern="0" dirty="0">
                <a:solidFill>
                  <a:srgbClr val="F2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300" dirty="0"/>
          </a:p>
        </p:txBody>
      </p:sp>
      <p:sp>
        <p:nvSpPr>
          <p:cNvPr id="4" name="Text 1"/>
          <p:cNvSpPr/>
          <p:nvPr/>
        </p:nvSpPr>
        <p:spPr>
          <a:xfrm>
            <a:off x="609600" y="3638550"/>
            <a:ext cx="198696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D6E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Ninajirachi × China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09600" y="4029075"/>
            <a:ext cx="18261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30" dirty="0">
                <a:solidFill>
                  <a:srgbClr val="B9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 first China tour.</a:t>
            </a:r>
            <a:endParaRPr lang="en-US" sz="1130" dirty="0"/>
          </a:p>
        </p:txBody>
      </p:sp>
      <p:sp>
        <p:nvSpPr>
          <p:cNvPr id="6" name="Text 3"/>
          <p:cNvSpPr/>
          <p:nvPr/>
        </p:nvSpPr>
        <p:spPr>
          <a:xfrm>
            <a:off x="1009650" y="6263283"/>
            <a:ext cx="17275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30" b="1" spc="230" kern="0" dirty="0">
                <a:solidFill>
                  <a:srgbClr val="9B9B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GREENROOM.AGENCY</a:t>
            </a:r>
            <a:endParaRPr lang="en-US" sz="83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201966"/>
            <a:ext cx="285750" cy="236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GREENROOM.AGENCY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Ninajirachi — China Market Potential Report</dc:title>
  <dc:subject>PptxGenJS Presentation</dc:subject>
  <dc:creator>PptxGenJS</dc:creator>
  <cp:lastModifiedBy>PptxGenJS</cp:lastModifiedBy>
  <cp:revision>1</cp:revision>
  <dcterms:created xsi:type="dcterms:W3CDTF">2026-10-16T11:39:45Z</dcterms:created>
  <dcterms:modified xsi:type="dcterms:W3CDTF">2026-10-16T11:39:45Z</dcterms:modified>
</cp:coreProperties>
</file>